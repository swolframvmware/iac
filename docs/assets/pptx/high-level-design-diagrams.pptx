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7" r:id="rId4"/>
  </p:sldMasterIdLst>
  <p:notesMasterIdLst>
    <p:notesMasterId r:id="rId7"/>
  </p:notesMasterIdLst>
  <p:handoutMasterIdLst>
    <p:handoutMasterId r:id="rId8"/>
  </p:handoutMasterIdLst>
  <p:sldIdLst>
    <p:sldId id="2026819474" r:id="rId5"/>
    <p:sldId id="2026819476" r:id="rId6"/>
  </p:sldIdLst>
  <p:sldSz cx="12188825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 Background" id="{D6890A96-43AD-417F-8044-F02DBC0A8ED0}">
          <p14:sldIdLst>
            <p14:sldId id="2026819474"/>
            <p14:sldId id="202681947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8CE1"/>
    <a:srgbClr val="387C2C"/>
    <a:srgbClr val="AADB1E"/>
    <a:srgbClr val="6DB33F"/>
    <a:srgbClr val="006990"/>
    <a:srgbClr val="E6E6E6"/>
    <a:srgbClr val="7F35AB"/>
    <a:srgbClr val="7636AE"/>
    <a:srgbClr val="2640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7461" autoAdjust="0"/>
  </p:normalViewPr>
  <p:slideViewPr>
    <p:cSldViewPr snapToGrid="0">
      <p:cViewPr varScale="1">
        <p:scale>
          <a:sx n="155" d="100"/>
          <a:sy n="155" d="100"/>
        </p:scale>
        <p:origin x="16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-6396"/>
    </p:cViewPr>
  </p:sorterViewPr>
  <p:notesViewPr>
    <p:cSldViewPr snapToGrid="0" showGuides="1">
      <p:cViewPr varScale="1">
        <p:scale>
          <a:sx n="119" d="100"/>
          <a:sy n="119" d="100"/>
        </p:scale>
        <p:origin x="5064" y="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Metropolis" panose="00000500000000000000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04553-04C5-4BB3-AD4E-8B2EF3CDDAF9}" type="datetimeFigureOut">
              <a:rPr lang="en-US" smtClean="0">
                <a:latin typeface="Metropolis" panose="00000500000000000000" pitchFamily="50" charset="0"/>
              </a:rPr>
              <a:t>10/16/2024</a:t>
            </a:fld>
            <a:endParaRPr lang="en-US" dirty="0">
              <a:latin typeface="Metropolis" panose="00000500000000000000" pitchFamily="5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Metropolis" panose="00000500000000000000" pitchFamily="5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A881F-0910-47D3-BD01-4F68834EC353}" type="slidenum">
              <a:rPr lang="en-US" smtClean="0">
                <a:latin typeface="Metropolis" panose="00000500000000000000" pitchFamily="50" charset="0"/>
              </a:rPr>
              <a:t>‹#›</a:t>
            </a:fld>
            <a:endParaRPr lang="en-US" dirty="0">
              <a:latin typeface="Metropolis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667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tropolis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tropolis" panose="00000500000000000000" pitchFamily="50" charset="0"/>
              </a:defRPr>
            </a:lvl1pPr>
          </a:lstStyle>
          <a:p>
            <a:fld id="{3CB6F0DB-E055-41D0-9102-627A646E4242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tropolis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tropolis" panose="00000500000000000000" pitchFamily="50" charset="0"/>
              </a:defRPr>
            </a:lvl1pPr>
          </a:lstStyle>
          <a:p>
            <a:fld id="{9F4FBC3A-A12C-40F9-BB8D-BC30C79013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909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84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4FBC3A-A12C-40F9-BB8D-BC30C790139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23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27E3E8B-0F66-4996-9785-6E9531D89A5A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4FA3F-D529-4D8B-B6EC-A8341FCAF6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6505" y="1600201"/>
            <a:ext cx="10972800" cy="4572000"/>
          </a:xfrm>
        </p:spPr>
        <p:txBody>
          <a:bodyPr/>
          <a:lstStyle>
            <a:lvl1pPr>
              <a:spcBef>
                <a:spcPts val="1500"/>
              </a:spcBef>
              <a:defRPr/>
            </a:lvl1pPr>
            <a:lvl2pPr>
              <a:spcBef>
                <a:spcPts val="300"/>
              </a:spcBef>
              <a:defRPr/>
            </a:lvl2pPr>
            <a:lvl5pPr>
              <a:defRPr/>
            </a:lvl5pPr>
            <a:lvl6pPr>
              <a:defRPr/>
            </a:lvl6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16D2F66-BB7F-4F0E-A224-A105F87676E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8794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24E83-0498-4D8B-94A0-3FF7CDD8F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One Line Title</a:t>
            </a:r>
          </a:p>
        </p:txBody>
      </p:sp>
    </p:spTree>
    <p:extLst>
      <p:ext uri="{BB962C8B-B14F-4D97-AF65-F5344CB8AC3E}">
        <p14:creationId xmlns:p14="http://schemas.microsoft.com/office/powerpoint/2010/main" val="3781022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950B906-C5A3-4658-B24C-B2B533310D26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28211D2-9BBA-4EB9-8867-E2CC72E9E0D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D90EF1-7A6F-4CAE-80CD-2BC8A8107F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One Line Title</a:t>
            </a:r>
          </a:p>
        </p:txBody>
      </p:sp>
    </p:spTree>
    <p:extLst>
      <p:ext uri="{BB962C8B-B14F-4D97-AF65-F5344CB8AC3E}">
        <p14:creationId xmlns:p14="http://schemas.microsoft.com/office/powerpoint/2010/main" val="410421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8450DCA-9700-4C93-9CAA-A9FF31B0A6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6766560"/>
            <a:ext cx="12188825" cy="952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3"/>
            <a:ext cx="10969943" cy="45804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6C16E6-5A1F-46F7-8642-A7F025A5BD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013" y="73520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86C86-F823-4766-9B10-773EDC51C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735203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295A3-96FB-4E80-91AF-4225D266C57B}" type="slidenum">
              <a:rPr lang="en-US" smtClean="0"/>
              <a:t>‹#›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485A9D7-B248-4F26-9897-A1C7A54FAF89}"/>
              </a:ext>
            </a:extLst>
          </p:cNvPr>
          <p:cNvGrpSpPr/>
          <p:nvPr userDrawn="1"/>
        </p:nvGrpSpPr>
        <p:grpSpPr>
          <a:xfrm>
            <a:off x="608012" y="6445106"/>
            <a:ext cx="1184397" cy="186690"/>
            <a:chOff x="863272" y="6563918"/>
            <a:chExt cx="861082" cy="135727"/>
          </a:xfrm>
          <a:solidFill>
            <a:schemeClr val="bg1"/>
          </a:solidFill>
        </p:grpSpPr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3813DC77-8C0C-44B4-AE3B-61F5A80140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963" y="6569284"/>
              <a:ext cx="181812" cy="128783"/>
            </a:xfrm>
            <a:custGeom>
              <a:avLst/>
              <a:gdLst>
                <a:gd name="T0" fmla="*/ 52 w 243"/>
                <a:gd name="T1" fmla="*/ 159 h 170"/>
                <a:gd name="T2" fmla="*/ 2 w 243"/>
                <a:gd name="T3" fmla="*/ 19 h 170"/>
                <a:gd name="T4" fmla="*/ 0 w 243"/>
                <a:gd name="T5" fmla="*/ 12 h 170"/>
                <a:gd name="T6" fmla="*/ 13 w 243"/>
                <a:gd name="T7" fmla="*/ 0 h 170"/>
                <a:gd name="T8" fmla="*/ 25 w 243"/>
                <a:gd name="T9" fmla="*/ 11 h 170"/>
                <a:gd name="T10" fmla="*/ 67 w 243"/>
                <a:gd name="T11" fmla="*/ 131 h 170"/>
                <a:gd name="T12" fmla="*/ 109 w 243"/>
                <a:gd name="T13" fmla="*/ 10 h 170"/>
                <a:gd name="T14" fmla="*/ 121 w 243"/>
                <a:gd name="T15" fmla="*/ 0 h 170"/>
                <a:gd name="T16" fmla="*/ 122 w 243"/>
                <a:gd name="T17" fmla="*/ 0 h 170"/>
                <a:gd name="T18" fmla="*/ 135 w 243"/>
                <a:gd name="T19" fmla="*/ 10 h 170"/>
                <a:gd name="T20" fmla="*/ 177 w 243"/>
                <a:gd name="T21" fmla="*/ 131 h 170"/>
                <a:gd name="T22" fmla="*/ 219 w 243"/>
                <a:gd name="T23" fmla="*/ 10 h 170"/>
                <a:gd name="T24" fmla="*/ 231 w 243"/>
                <a:gd name="T25" fmla="*/ 0 h 170"/>
                <a:gd name="T26" fmla="*/ 243 w 243"/>
                <a:gd name="T27" fmla="*/ 12 h 170"/>
                <a:gd name="T28" fmla="*/ 241 w 243"/>
                <a:gd name="T29" fmla="*/ 19 h 170"/>
                <a:gd name="T30" fmla="*/ 191 w 243"/>
                <a:gd name="T31" fmla="*/ 159 h 170"/>
                <a:gd name="T32" fmla="*/ 177 w 243"/>
                <a:gd name="T33" fmla="*/ 170 h 170"/>
                <a:gd name="T34" fmla="*/ 176 w 243"/>
                <a:gd name="T35" fmla="*/ 170 h 170"/>
                <a:gd name="T36" fmla="*/ 163 w 243"/>
                <a:gd name="T37" fmla="*/ 159 h 170"/>
                <a:gd name="T38" fmla="*/ 122 w 243"/>
                <a:gd name="T39" fmla="*/ 40 h 170"/>
                <a:gd name="T40" fmla="*/ 80 w 243"/>
                <a:gd name="T41" fmla="*/ 159 h 170"/>
                <a:gd name="T42" fmla="*/ 66 w 243"/>
                <a:gd name="T43" fmla="*/ 170 h 170"/>
                <a:gd name="T44" fmla="*/ 66 w 243"/>
                <a:gd name="T45" fmla="*/ 170 h 170"/>
                <a:gd name="T46" fmla="*/ 52 w 243"/>
                <a:gd name="T47" fmla="*/ 15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3" h="170">
                  <a:moveTo>
                    <a:pt x="52" y="15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1" y="17"/>
                    <a:pt x="0" y="14"/>
                    <a:pt x="0" y="12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9" y="0"/>
                    <a:pt x="23" y="4"/>
                    <a:pt x="25" y="11"/>
                  </a:cubicBezTo>
                  <a:cubicBezTo>
                    <a:pt x="67" y="131"/>
                    <a:pt x="67" y="131"/>
                    <a:pt x="67" y="131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11" y="4"/>
                    <a:pt x="114" y="0"/>
                    <a:pt x="12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9" y="0"/>
                    <a:pt x="133" y="4"/>
                    <a:pt x="135" y="10"/>
                  </a:cubicBezTo>
                  <a:cubicBezTo>
                    <a:pt x="177" y="131"/>
                    <a:pt x="177" y="131"/>
                    <a:pt x="177" y="131"/>
                  </a:cubicBezTo>
                  <a:cubicBezTo>
                    <a:pt x="219" y="10"/>
                    <a:pt x="219" y="10"/>
                    <a:pt x="219" y="10"/>
                  </a:cubicBezTo>
                  <a:cubicBezTo>
                    <a:pt x="221" y="5"/>
                    <a:pt x="224" y="0"/>
                    <a:pt x="231" y="0"/>
                  </a:cubicBezTo>
                  <a:cubicBezTo>
                    <a:pt x="238" y="0"/>
                    <a:pt x="243" y="6"/>
                    <a:pt x="243" y="12"/>
                  </a:cubicBezTo>
                  <a:cubicBezTo>
                    <a:pt x="243" y="14"/>
                    <a:pt x="242" y="17"/>
                    <a:pt x="241" y="19"/>
                  </a:cubicBezTo>
                  <a:cubicBezTo>
                    <a:pt x="191" y="159"/>
                    <a:pt x="191" y="159"/>
                    <a:pt x="191" y="159"/>
                  </a:cubicBezTo>
                  <a:cubicBezTo>
                    <a:pt x="188" y="166"/>
                    <a:pt x="183" y="170"/>
                    <a:pt x="177" y="170"/>
                  </a:cubicBezTo>
                  <a:cubicBezTo>
                    <a:pt x="176" y="170"/>
                    <a:pt x="176" y="170"/>
                    <a:pt x="176" y="170"/>
                  </a:cubicBezTo>
                  <a:cubicBezTo>
                    <a:pt x="170" y="170"/>
                    <a:pt x="165" y="166"/>
                    <a:pt x="163" y="159"/>
                  </a:cubicBezTo>
                  <a:cubicBezTo>
                    <a:pt x="122" y="40"/>
                    <a:pt x="122" y="40"/>
                    <a:pt x="122" y="40"/>
                  </a:cubicBezTo>
                  <a:cubicBezTo>
                    <a:pt x="80" y="159"/>
                    <a:pt x="80" y="159"/>
                    <a:pt x="80" y="159"/>
                  </a:cubicBezTo>
                  <a:cubicBezTo>
                    <a:pt x="78" y="166"/>
                    <a:pt x="73" y="170"/>
                    <a:pt x="66" y="170"/>
                  </a:cubicBezTo>
                  <a:cubicBezTo>
                    <a:pt x="66" y="170"/>
                    <a:pt x="66" y="170"/>
                    <a:pt x="66" y="170"/>
                  </a:cubicBezTo>
                  <a:cubicBezTo>
                    <a:pt x="60" y="170"/>
                    <a:pt x="55" y="166"/>
                    <a:pt x="52" y="159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baseline="0" dirty="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4D7DC1A2-819A-4366-8BE9-387CC00090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9084" y="6569284"/>
              <a:ext cx="70389" cy="128783"/>
            </a:xfrm>
            <a:custGeom>
              <a:avLst/>
              <a:gdLst>
                <a:gd name="T0" fmla="*/ 0 w 94"/>
                <a:gd name="T1" fmla="*/ 13 h 170"/>
                <a:gd name="T2" fmla="*/ 12 w 94"/>
                <a:gd name="T3" fmla="*/ 0 h 170"/>
                <a:gd name="T4" fmla="*/ 24 w 94"/>
                <a:gd name="T5" fmla="*/ 13 h 170"/>
                <a:gd name="T6" fmla="*/ 24 w 94"/>
                <a:gd name="T7" fmla="*/ 41 h 170"/>
                <a:gd name="T8" fmla="*/ 82 w 94"/>
                <a:gd name="T9" fmla="*/ 0 h 170"/>
                <a:gd name="T10" fmla="*/ 94 w 94"/>
                <a:gd name="T11" fmla="*/ 13 h 170"/>
                <a:gd name="T12" fmla="*/ 83 w 94"/>
                <a:gd name="T13" fmla="*/ 25 h 170"/>
                <a:gd name="T14" fmla="*/ 24 w 94"/>
                <a:gd name="T15" fmla="*/ 101 h 170"/>
                <a:gd name="T16" fmla="*/ 24 w 94"/>
                <a:gd name="T17" fmla="*/ 157 h 170"/>
                <a:gd name="T18" fmla="*/ 12 w 94"/>
                <a:gd name="T19" fmla="*/ 170 h 170"/>
                <a:gd name="T20" fmla="*/ 0 w 94"/>
                <a:gd name="T21" fmla="*/ 157 h 170"/>
                <a:gd name="T22" fmla="*/ 0 w 94"/>
                <a:gd name="T23" fmla="*/ 1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4" h="170">
                  <a:moveTo>
                    <a:pt x="0" y="13"/>
                  </a:move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5"/>
                    <a:pt x="24" y="13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37" y="13"/>
                    <a:pt x="64" y="0"/>
                    <a:pt x="82" y="0"/>
                  </a:cubicBezTo>
                  <a:cubicBezTo>
                    <a:pt x="89" y="0"/>
                    <a:pt x="94" y="6"/>
                    <a:pt x="94" y="13"/>
                  </a:cubicBezTo>
                  <a:cubicBezTo>
                    <a:pt x="94" y="20"/>
                    <a:pt x="89" y="24"/>
                    <a:pt x="83" y="25"/>
                  </a:cubicBezTo>
                  <a:cubicBezTo>
                    <a:pt x="51" y="29"/>
                    <a:pt x="24" y="53"/>
                    <a:pt x="24" y="101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64"/>
                    <a:pt x="19" y="170"/>
                    <a:pt x="12" y="170"/>
                  </a:cubicBezTo>
                  <a:cubicBezTo>
                    <a:pt x="5" y="170"/>
                    <a:pt x="0" y="164"/>
                    <a:pt x="0" y="157"/>
                  </a:cubicBezTo>
                  <a:lnTo>
                    <a:pt x="0" y="13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baseline="0" dirty="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0373EF47-4DA1-4EF4-AE4F-54BCB38FC2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77894" y="6569284"/>
              <a:ext cx="115211" cy="130361"/>
            </a:xfrm>
            <a:custGeom>
              <a:avLst/>
              <a:gdLst>
                <a:gd name="T0" fmla="*/ 129 w 154"/>
                <a:gd name="T1" fmla="*/ 76 h 172"/>
                <a:gd name="T2" fmla="*/ 77 w 154"/>
                <a:gd name="T3" fmla="*/ 21 h 172"/>
                <a:gd name="T4" fmla="*/ 25 w 154"/>
                <a:gd name="T5" fmla="*/ 76 h 172"/>
                <a:gd name="T6" fmla="*/ 129 w 154"/>
                <a:gd name="T7" fmla="*/ 76 h 172"/>
                <a:gd name="T8" fmla="*/ 81 w 154"/>
                <a:gd name="T9" fmla="*/ 172 h 172"/>
                <a:gd name="T10" fmla="*/ 0 w 154"/>
                <a:gd name="T11" fmla="*/ 86 h 172"/>
                <a:gd name="T12" fmla="*/ 0 w 154"/>
                <a:gd name="T13" fmla="*/ 85 h 172"/>
                <a:gd name="T14" fmla="*/ 78 w 154"/>
                <a:gd name="T15" fmla="*/ 0 h 172"/>
                <a:gd name="T16" fmla="*/ 154 w 154"/>
                <a:gd name="T17" fmla="*/ 83 h 172"/>
                <a:gd name="T18" fmla="*/ 142 w 154"/>
                <a:gd name="T19" fmla="*/ 95 h 172"/>
                <a:gd name="T20" fmla="*/ 25 w 154"/>
                <a:gd name="T21" fmla="*/ 95 h 172"/>
                <a:gd name="T22" fmla="*/ 82 w 154"/>
                <a:gd name="T23" fmla="*/ 150 h 172"/>
                <a:gd name="T24" fmla="*/ 129 w 154"/>
                <a:gd name="T25" fmla="*/ 131 h 172"/>
                <a:gd name="T26" fmla="*/ 136 w 154"/>
                <a:gd name="T27" fmla="*/ 128 h 172"/>
                <a:gd name="T28" fmla="*/ 146 w 154"/>
                <a:gd name="T29" fmla="*/ 139 h 172"/>
                <a:gd name="T30" fmla="*/ 142 w 154"/>
                <a:gd name="T31" fmla="*/ 147 h 172"/>
                <a:gd name="T32" fmla="*/ 81 w 154"/>
                <a:gd name="T33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4" h="172">
                  <a:moveTo>
                    <a:pt x="129" y="76"/>
                  </a:moveTo>
                  <a:cubicBezTo>
                    <a:pt x="127" y="47"/>
                    <a:pt x="110" y="21"/>
                    <a:pt x="77" y="21"/>
                  </a:cubicBezTo>
                  <a:cubicBezTo>
                    <a:pt x="49" y="21"/>
                    <a:pt x="28" y="44"/>
                    <a:pt x="25" y="76"/>
                  </a:cubicBezTo>
                  <a:lnTo>
                    <a:pt x="129" y="76"/>
                  </a:lnTo>
                  <a:close/>
                  <a:moveTo>
                    <a:pt x="81" y="172"/>
                  </a:moveTo>
                  <a:cubicBezTo>
                    <a:pt x="36" y="172"/>
                    <a:pt x="0" y="137"/>
                    <a:pt x="0" y="86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38"/>
                    <a:pt x="33" y="0"/>
                    <a:pt x="78" y="0"/>
                  </a:cubicBezTo>
                  <a:cubicBezTo>
                    <a:pt x="126" y="0"/>
                    <a:pt x="154" y="40"/>
                    <a:pt x="154" y="83"/>
                  </a:cubicBezTo>
                  <a:cubicBezTo>
                    <a:pt x="154" y="90"/>
                    <a:pt x="148" y="95"/>
                    <a:pt x="142" y="95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28" y="130"/>
                    <a:pt x="53" y="150"/>
                    <a:pt x="82" y="150"/>
                  </a:cubicBezTo>
                  <a:cubicBezTo>
                    <a:pt x="102" y="150"/>
                    <a:pt x="117" y="142"/>
                    <a:pt x="129" y="131"/>
                  </a:cubicBezTo>
                  <a:cubicBezTo>
                    <a:pt x="131" y="130"/>
                    <a:pt x="133" y="128"/>
                    <a:pt x="136" y="128"/>
                  </a:cubicBezTo>
                  <a:cubicBezTo>
                    <a:pt x="142" y="128"/>
                    <a:pt x="146" y="133"/>
                    <a:pt x="146" y="139"/>
                  </a:cubicBezTo>
                  <a:cubicBezTo>
                    <a:pt x="146" y="142"/>
                    <a:pt x="145" y="145"/>
                    <a:pt x="142" y="147"/>
                  </a:cubicBezTo>
                  <a:cubicBezTo>
                    <a:pt x="127" y="162"/>
                    <a:pt x="109" y="172"/>
                    <a:pt x="81" y="172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baseline="0" dirty="0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ABC15050-D5E4-4FBD-806D-1CEC1AF606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77775" y="6569284"/>
              <a:ext cx="108898" cy="130361"/>
            </a:xfrm>
            <a:custGeom>
              <a:avLst/>
              <a:gdLst>
                <a:gd name="T0" fmla="*/ 122 w 146"/>
                <a:gd name="T1" fmla="*/ 107 h 172"/>
                <a:gd name="T2" fmla="*/ 122 w 146"/>
                <a:gd name="T3" fmla="*/ 91 h 172"/>
                <a:gd name="T4" fmla="*/ 74 w 146"/>
                <a:gd name="T5" fmla="*/ 84 h 172"/>
                <a:gd name="T6" fmla="*/ 25 w 146"/>
                <a:gd name="T7" fmla="*/ 118 h 172"/>
                <a:gd name="T8" fmla="*/ 25 w 146"/>
                <a:gd name="T9" fmla="*/ 119 h 172"/>
                <a:gd name="T10" fmla="*/ 67 w 146"/>
                <a:gd name="T11" fmla="*/ 152 h 172"/>
                <a:gd name="T12" fmla="*/ 122 w 146"/>
                <a:gd name="T13" fmla="*/ 107 h 172"/>
                <a:gd name="T14" fmla="*/ 0 w 146"/>
                <a:gd name="T15" fmla="*/ 120 h 172"/>
                <a:gd name="T16" fmla="*/ 0 w 146"/>
                <a:gd name="T17" fmla="*/ 119 h 172"/>
                <a:gd name="T18" fmla="*/ 71 w 146"/>
                <a:gd name="T19" fmla="*/ 66 h 172"/>
                <a:gd name="T20" fmla="*/ 122 w 146"/>
                <a:gd name="T21" fmla="*/ 73 h 172"/>
                <a:gd name="T22" fmla="*/ 122 w 146"/>
                <a:gd name="T23" fmla="*/ 67 h 172"/>
                <a:gd name="T24" fmla="*/ 73 w 146"/>
                <a:gd name="T25" fmla="*/ 22 h 172"/>
                <a:gd name="T26" fmla="*/ 34 w 146"/>
                <a:gd name="T27" fmla="*/ 30 h 172"/>
                <a:gd name="T28" fmla="*/ 30 w 146"/>
                <a:gd name="T29" fmla="*/ 31 h 172"/>
                <a:gd name="T30" fmla="*/ 19 w 146"/>
                <a:gd name="T31" fmla="*/ 20 h 172"/>
                <a:gd name="T32" fmla="*/ 26 w 146"/>
                <a:gd name="T33" fmla="*/ 10 h 172"/>
                <a:gd name="T34" fmla="*/ 75 w 146"/>
                <a:gd name="T35" fmla="*/ 0 h 172"/>
                <a:gd name="T36" fmla="*/ 129 w 146"/>
                <a:gd name="T37" fmla="*/ 19 h 172"/>
                <a:gd name="T38" fmla="*/ 146 w 146"/>
                <a:gd name="T39" fmla="*/ 67 h 172"/>
                <a:gd name="T40" fmla="*/ 146 w 146"/>
                <a:gd name="T41" fmla="*/ 158 h 172"/>
                <a:gd name="T42" fmla="*/ 134 w 146"/>
                <a:gd name="T43" fmla="*/ 170 h 172"/>
                <a:gd name="T44" fmla="*/ 122 w 146"/>
                <a:gd name="T45" fmla="*/ 159 h 172"/>
                <a:gd name="T46" fmla="*/ 122 w 146"/>
                <a:gd name="T47" fmla="*/ 143 h 172"/>
                <a:gd name="T48" fmla="*/ 62 w 146"/>
                <a:gd name="T49" fmla="*/ 172 h 172"/>
                <a:gd name="T50" fmla="*/ 0 w 146"/>
                <a:gd name="T51" fmla="*/ 12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6" h="172">
                  <a:moveTo>
                    <a:pt x="122" y="107"/>
                  </a:moveTo>
                  <a:cubicBezTo>
                    <a:pt x="122" y="91"/>
                    <a:pt x="122" y="91"/>
                    <a:pt x="122" y="91"/>
                  </a:cubicBezTo>
                  <a:cubicBezTo>
                    <a:pt x="110" y="88"/>
                    <a:pt x="94" y="84"/>
                    <a:pt x="74" y="84"/>
                  </a:cubicBezTo>
                  <a:cubicBezTo>
                    <a:pt x="43" y="84"/>
                    <a:pt x="25" y="98"/>
                    <a:pt x="25" y="118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5" y="140"/>
                    <a:pt x="45" y="152"/>
                    <a:pt x="67" y="152"/>
                  </a:cubicBezTo>
                  <a:cubicBezTo>
                    <a:pt x="97" y="152"/>
                    <a:pt x="122" y="133"/>
                    <a:pt x="122" y="107"/>
                  </a:cubicBezTo>
                  <a:moveTo>
                    <a:pt x="0" y="120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85"/>
                    <a:pt x="29" y="66"/>
                    <a:pt x="71" y="66"/>
                  </a:cubicBezTo>
                  <a:cubicBezTo>
                    <a:pt x="92" y="66"/>
                    <a:pt x="107" y="69"/>
                    <a:pt x="122" y="73"/>
                  </a:cubicBezTo>
                  <a:cubicBezTo>
                    <a:pt x="122" y="67"/>
                    <a:pt x="122" y="67"/>
                    <a:pt x="122" y="67"/>
                  </a:cubicBezTo>
                  <a:cubicBezTo>
                    <a:pt x="122" y="37"/>
                    <a:pt x="104" y="22"/>
                    <a:pt x="73" y="22"/>
                  </a:cubicBezTo>
                  <a:cubicBezTo>
                    <a:pt x="56" y="22"/>
                    <a:pt x="46" y="24"/>
                    <a:pt x="34" y="30"/>
                  </a:cubicBezTo>
                  <a:cubicBezTo>
                    <a:pt x="33" y="30"/>
                    <a:pt x="31" y="31"/>
                    <a:pt x="30" y="31"/>
                  </a:cubicBezTo>
                  <a:cubicBezTo>
                    <a:pt x="24" y="31"/>
                    <a:pt x="19" y="26"/>
                    <a:pt x="19" y="20"/>
                  </a:cubicBezTo>
                  <a:cubicBezTo>
                    <a:pt x="19" y="15"/>
                    <a:pt x="21" y="12"/>
                    <a:pt x="26" y="10"/>
                  </a:cubicBezTo>
                  <a:cubicBezTo>
                    <a:pt x="42" y="3"/>
                    <a:pt x="54" y="0"/>
                    <a:pt x="75" y="0"/>
                  </a:cubicBezTo>
                  <a:cubicBezTo>
                    <a:pt x="99" y="0"/>
                    <a:pt x="117" y="6"/>
                    <a:pt x="129" y="19"/>
                  </a:cubicBezTo>
                  <a:cubicBezTo>
                    <a:pt x="140" y="30"/>
                    <a:pt x="146" y="46"/>
                    <a:pt x="146" y="67"/>
                  </a:cubicBezTo>
                  <a:cubicBezTo>
                    <a:pt x="146" y="158"/>
                    <a:pt x="146" y="158"/>
                    <a:pt x="146" y="158"/>
                  </a:cubicBezTo>
                  <a:cubicBezTo>
                    <a:pt x="146" y="165"/>
                    <a:pt x="141" y="170"/>
                    <a:pt x="134" y="170"/>
                  </a:cubicBezTo>
                  <a:cubicBezTo>
                    <a:pt x="127" y="170"/>
                    <a:pt x="122" y="165"/>
                    <a:pt x="122" y="159"/>
                  </a:cubicBezTo>
                  <a:cubicBezTo>
                    <a:pt x="122" y="143"/>
                    <a:pt x="122" y="143"/>
                    <a:pt x="122" y="143"/>
                  </a:cubicBezTo>
                  <a:cubicBezTo>
                    <a:pt x="111" y="158"/>
                    <a:pt x="91" y="172"/>
                    <a:pt x="62" y="172"/>
                  </a:cubicBezTo>
                  <a:cubicBezTo>
                    <a:pt x="32" y="172"/>
                    <a:pt x="0" y="154"/>
                    <a:pt x="0" y="120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baseline="0" dirty="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953BA047-B60F-46CD-AFCB-49101F4D74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3272" y="6563918"/>
              <a:ext cx="325115" cy="135727"/>
            </a:xfrm>
            <a:custGeom>
              <a:avLst/>
              <a:gdLst>
                <a:gd name="T0" fmla="*/ 49 w 435"/>
                <a:gd name="T1" fmla="*/ 18 h 179"/>
                <a:gd name="T2" fmla="*/ 17 w 435"/>
                <a:gd name="T3" fmla="*/ 6 h 179"/>
                <a:gd name="T4" fmla="*/ 6 w 435"/>
                <a:gd name="T5" fmla="*/ 37 h 179"/>
                <a:gd name="T6" fmla="*/ 58 w 435"/>
                <a:gd name="T7" fmla="*/ 152 h 179"/>
                <a:gd name="T8" fmla="*/ 92 w 435"/>
                <a:gd name="T9" fmla="*/ 179 h 179"/>
                <a:gd name="T10" fmla="*/ 125 w 435"/>
                <a:gd name="T11" fmla="*/ 152 h 179"/>
                <a:gd name="T12" fmla="*/ 171 w 435"/>
                <a:gd name="T13" fmla="*/ 51 h 179"/>
                <a:gd name="T14" fmla="*/ 178 w 435"/>
                <a:gd name="T15" fmla="*/ 46 h 179"/>
                <a:gd name="T16" fmla="*/ 185 w 435"/>
                <a:gd name="T17" fmla="*/ 54 h 179"/>
                <a:gd name="T18" fmla="*/ 185 w 435"/>
                <a:gd name="T19" fmla="*/ 151 h 179"/>
                <a:gd name="T20" fmla="*/ 209 w 435"/>
                <a:gd name="T21" fmla="*/ 179 h 179"/>
                <a:gd name="T22" fmla="*/ 234 w 435"/>
                <a:gd name="T23" fmla="*/ 151 h 179"/>
                <a:gd name="T24" fmla="*/ 234 w 435"/>
                <a:gd name="T25" fmla="*/ 72 h 179"/>
                <a:gd name="T26" fmla="*/ 260 w 435"/>
                <a:gd name="T27" fmla="*/ 46 h 179"/>
                <a:gd name="T28" fmla="*/ 285 w 435"/>
                <a:gd name="T29" fmla="*/ 72 h 179"/>
                <a:gd name="T30" fmla="*/ 285 w 435"/>
                <a:gd name="T31" fmla="*/ 151 h 179"/>
                <a:gd name="T32" fmla="*/ 310 w 435"/>
                <a:gd name="T33" fmla="*/ 179 h 179"/>
                <a:gd name="T34" fmla="*/ 334 w 435"/>
                <a:gd name="T35" fmla="*/ 151 h 179"/>
                <a:gd name="T36" fmla="*/ 334 w 435"/>
                <a:gd name="T37" fmla="*/ 72 h 179"/>
                <a:gd name="T38" fmla="*/ 360 w 435"/>
                <a:gd name="T39" fmla="*/ 46 h 179"/>
                <a:gd name="T40" fmla="*/ 385 w 435"/>
                <a:gd name="T41" fmla="*/ 72 h 179"/>
                <a:gd name="T42" fmla="*/ 385 w 435"/>
                <a:gd name="T43" fmla="*/ 151 h 179"/>
                <a:gd name="T44" fmla="*/ 410 w 435"/>
                <a:gd name="T45" fmla="*/ 179 h 179"/>
                <a:gd name="T46" fmla="*/ 435 w 435"/>
                <a:gd name="T47" fmla="*/ 151 h 179"/>
                <a:gd name="T48" fmla="*/ 435 w 435"/>
                <a:gd name="T49" fmla="*/ 61 h 179"/>
                <a:gd name="T50" fmla="*/ 375 w 435"/>
                <a:gd name="T51" fmla="*/ 4 h 179"/>
                <a:gd name="T52" fmla="*/ 323 w 435"/>
                <a:gd name="T53" fmla="*/ 26 h 179"/>
                <a:gd name="T54" fmla="*/ 272 w 435"/>
                <a:gd name="T55" fmla="*/ 4 h 179"/>
                <a:gd name="T56" fmla="*/ 223 w 435"/>
                <a:gd name="T57" fmla="*/ 26 h 179"/>
                <a:gd name="T58" fmla="*/ 178 w 435"/>
                <a:gd name="T59" fmla="*/ 4 h 179"/>
                <a:gd name="T60" fmla="*/ 125 w 435"/>
                <a:gd name="T61" fmla="*/ 40 h 179"/>
                <a:gd name="T62" fmla="*/ 92 w 435"/>
                <a:gd name="T63" fmla="*/ 119 h 179"/>
                <a:gd name="T64" fmla="*/ 49 w 435"/>
                <a:gd name="T65" fmla="*/ 1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5" h="179">
                  <a:moveTo>
                    <a:pt x="49" y="18"/>
                  </a:moveTo>
                  <a:cubicBezTo>
                    <a:pt x="43" y="6"/>
                    <a:pt x="30" y="0"/>
                    <a:pt x="17" y="6"/>
                  </a:cubicBezTo>
                  <a:cubicBezTo>
                    <a:pt x="5" y="12"/>
                    <a:pt x="0" y="25"/>
                    <a:pt x="6" y="37"/>
                  </a:cubicBezTo>
                  <a:cubicBezTo>
                    <a:pt x="58" y="152"/>
                    <a:pt x="58" y="152"/>
                    <a:pt x="58" y="152"/>
                  </a:cubicBezTo>
                  <a:cubicBezTo>
                    <a:pt x="67" y="169"/>
                    <a:pt x="75" y="179"/>
                    <a:pt x="92" y="179"/>
                  </a:cubicBezTo>
                  <a:cubicBezTo>
                    <a:pt x="109" y="179"/>
                    <a:pt x="117" y="169"/>
                    <a:pt x="125" y="152"/>
                  </a:cubicBezTo>
                  <a:cubicBezTo>
                    <a:pt x="125" y="152"/>
                    <a:pt x="171" y="52"/>
                    <a:pt x="171" y="51"/>
                  </a:cubicBezTo>
                  <a:cubicBezTo>
                    <a:pt x="172" y="50"/>
                    <a:pt x="173" y="46"/>
                    <a:pt x="178" y="46"/>
                  </a:cubicBezTo>
                  <a:cubicBezTo>
                    <a:pt x="182" y="47"/>
                    <a:pt x="185" y="50"/>
                    <a:pt x="185" y="54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185" y="166"/>
                    <a:pt x="193" y="179"/>
                    <a:pt x="209" y="179"/>
                  </a:cubicBezTo>
                  <a:cubicBezTo>
                    <a:pt x="225" y="179"/>
                    <a:pt x="234" y="166"/>
                    <a:pt x="234" y="151"/>
                  </a:cubicBezTo>
                  <a:cubicBezTo>
                    <a:pt x="234" y="72"/>
                    <a:pt x="234" y="72"/>
                    <a:pt x="234" y="72"/>
                  </a:cubicBezTo>
                  <a:cubicBezTo>
                    <a:pt x="234" y="56"/>
                    <a:pt x="245" y="46"/>
                    <a:pt x="260" y="46"/>
                  </a:cubicBezTo>
                  <a:cubicBezTo>
                    <a:pt x="275" y="46"/>
                    <a:pt x="285" y="57"/>
                    <a:pt x="285" y="72"/>
                  </a:cubicBezTo>
                  <a:cubicBezTo>
                    <a:pt x="285" y="151"/>
                    <a:pt x="285" y="151"/>
                    <a:pt x="285" y="151"/>
                  </a:cubicBezTo>
                  <a:cubicBezTo>
                    <a:pt x="285" y="166"/>
                    <a:pt x="294" y="179"/>
                    <a:pt x="310" y="179"/>
                  </a:cubicBezTo>
                  <a:cubicBezTo>
                    <a:pt x="326" y="179"/>
                    <a:pt x="334" y="166"/>
                    <a:pt x="334" y="151"/>
                  </a:cubicBezTo>
                  <a:cubicBezTo>
                    <a:pt x="334" y="72"/>
                    <a:pt x="334" y="72"/>
                    <a:pt x="334" y="72"/>
                  </a:cubicBezTo>
                  <a:cubicBezTo>
                    <a:pt x="334" y="56"/>
                    <a:pt x="345" y="46"/>
                    <a:pt x="360" y="46"/>
                  </a:cubicBezTo>
                  <a:cubicBezTo>
                    <a:pt x="375" y="46"/>
                    <a:pt x="385" y="57"/>
                    <a:pt x="385" y="72"/>
                  </a:cubicBezTo>
                  <a:cubicBezTo>
                    <a:pt x="385" y="151"/>
                    <a:pt x="385" y="151"/>
                    <a:pt x="385" y="151"/>
                  </a:cubicBezTo>
                  <a:cubicBezTo>
                    <a:pt x="385" y="166"/>
                    <a:pt x="394" y="179"/>
                    <a:pt x="410" y="179"/>
                  </a:cubicBezTo>
                  <a:cubicBezTo>
                    <a:pt x="426" y="179"/>
                    <a:pt x="435" y="166"/>
                    <a:pt x="435" y="151"/>
                  </a:cubicBezTo>
                  <a:cubicBezTo>
                    <a:pt x="435" y="61"/>
                    <a:pt x="435" y="61"/>
                    <a:pt x="435" y="61"/>
                  </a:cubicBezTo>
                  <a:cubicBezTo>
                    <a:pt x="435" y="27"/>
                    <a:pt x="408" y="4"/>
                    <a:pt x="375" y="4"/>
                  </a:cubicBezTo>
                  <a:cubicBezTo>
                    <a:pt x="343" y="4"/>
                    <a:pt x="323" y="26"/>
                    <a:pt x="323" y="26"/>
                  </a:cubicBezTo>
                  <a:cubicBezTo>
                    <a:pt x="312" y="12"/>
                    <a:pt x="297" y="4"/>
                    <a:pt x="272" y="4"/>
                  </a:cubicBezTo>
                  <a:cubicBezTo>
                    <a:pt x="246" y="4"/>
                    <a:pt x="223" y="26"/>
                    <a:pt x="223" y="26"/>
                  </a:cubicBezTo>
                  <a:cubicBezTo>
                    <a:pt x="212" y="12"/>
                    <a:pt x="194" y="4"/>
                    <a:pt x="178" y="4"/>
                  </a:cubicBezTo>
                  <a:cubicBezTo>
                    <a:pt x="155" y="4"/>
                    <a:pt x="136" y="14"/>
                    <a:pt x="125" y="40"/>
                  </a:cubicBezTo>
                  <a:cubicBezTo>
                    <a:pt x="92" y="119"/>
                    <a:pt x="92" y="119"/>
                    <a:pt x="92" y="119"/>
                  </a:cubicBezTo>
                  <a:lnTo>
                    <a:pt x="49" y="18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baseline="0" dirty="0"/>
            </a:p>
          </p:txBody>
        </p:sp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E5E07D7E-E36B-4549-9FB3-3BA1E22594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94683" y="6569284"/>
              <a:ext cx="29671" cy="31249"/>
            </a:xfrm>
            <a:custGeom>
              <a:avLst/>
              <a:gdLst>
                <a:gd name="T0" fmla="*/ 37 w 40"/>
                <a:gd name="T1" fmla="*/ 20 h 41"/>
                <a:gd name="T2" fmla="*/ 37 w 40"/>
                <a:gd name="T3" fmla="*/ 20 h 41"/>
                <a:gd name="T4" fmla="*/ 20 w 40"/>
                <a:gd name="T5" fmla="*/ 4 h 41"/>
                <a:gd name="T6" fmla="*/ 3 w 40"/>
                <a:gd name="T7" fmla="*/ 20 h 41"/>
                <a:gd name="T8" fmla="*/ 3 w 40"/>
                <a:gd name="T9" fmla="*/ 21 h 41"/>
                <a:gd name="T10" fmla="*/ 20 w 40"/>
                <a:gd name="T11" fmla="*/ 37 h 41"/>
                <a:gd name="T12" fmla="*/ 37 w 40"/>
                <a:gd name="T13" fmla="*/ 20 h 41"/>
                <a:gd name="T14" fmla="*/ 0 w 40"/>
                <a:gd name="T15" fmla="*/ 21 h 41"/>
                <a:gd name="T16" fmla="*/ 0 w 40"/>
                <a:gd name="T17" fmla="*/ 20 h 41"/>
                <a:gd name="T18" fmla="*/ 20 w 40"/>
                <a:gd name="T19" fmla="*/ 0 h 41"/>
                <a:gd name="T20" fmla="*/ 40 w 40"/>
                <a:gd name="T21" fmla="*/ 20 h 41"/>
                <a:gd name="T22" fmla="*/ 40 w 40"/>
                <a:gd name="T23" fmla="*/ 20 h 41"/>
                <a:gd name="T24" fmla="*/ 20 w 40"/>
                <a:gd name="T25" fmla="*/ 41 h 41"/>
                <a:gd name="T26" fmla="*/ 0 w 40"/>
                <a:gd name="T27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41">
                  <a:moveTo>
                    <a:pt x="37" y="20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37" y="11"/>
                    <a:pt x="29" y="4"/>
                    <a:pt x="20" y="4"/>
                  </a:cubicBezTo>
                  <a:cubicBezTo>
                    <a:pt x="11" y="4"/>
                    <a:pt x="3" y="11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30"/>
                    <a:pt x="11" y="37"/>
                    <a:pt x="20" y="37"/>
                  </a:cubicBezTo>
                  <a:cubicBezTo>
                    <a:pt x="29" y="37"/>
                    <a:pt x="37" y="30"/>
                    <a:pt x="37" y="20"/>
                  </a:cubicBezTo>
                  <a:moveTo>
                    <a:pt x="0" y="2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32"/>
                    <a:pt x="31" y="41"/>
                    <a:pt x="20" y="41"/>
                  </a:cubicBezTo>
                  <a:cubicBezTo>
                    <a:pt x="8" y="41"/>
                    <a:pt x="0" y="32"/>
                    <a:pt x="0" y="21"/>
                  </a:cubicBezTo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baseline="0" dirty="0"/>
            </a:p>
          </p:txBody>
        </p:sp>
        <p:sp>
          <p:nvSpPr>
            <p:cNvPr id="33" name="Freeform 12">
              <a:extLst>
                <a:ext uri="{FF2B5EF4-FFF2-40B4-BE49-F238E27FC236}">
                  <a16:creationId xmlns:a16="http://schemas.microsoft.com/office/drawing/2014/main" id="{3352F97F-F3A2-4B3E-9917-55B62713FD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3521" y="6576859"/>
              <a:ext cx="12626" cy="15151"/>
            </a:xfrm>
            <a:custGeom>
              <a:avLst/>
              <a:gdLst>
                <a:gd name="T0" fmla="*/ 9 w 17"/>
                <a:gd name="T1" fmla="*/ 10 h 20"/>
                <a:gd name="T2" fmla="*/ 12 w 17"/>
                <a:gd name="T3" fmla="*/ 7 h 20"/>
                <a:gd name="T4" fmla="*/ 12 w 17"/>
                <a:gd name="T5" fmla="*/ 7 h 20"/>
                <a:gd name="T6" fmla="*/ 9 w 17"/>
                <a:gd name="T7" fmla="*/ 4 h 20"/>
                <a:gd name="T8" fmla="*/ 5 w 17"/>
                <a:gd name="T9" fmla="*/ 4 h 20"/>
                <a:gd name="T10" fmla="*/ 5 w 17"/>
                <a:gd name="T11" fmla="*/ 10 h 20"/>
                <a:gd name="T12" fmla="*/ 9 w 17"/>
                <a:gd name="T13" fmla="*/ 10 h 20"/>
                <a:gd name="T14" fmla="*/ 0 w 17"/>
                <a:gd name="T15" fmla="*/ 2 h 20"/>
                <a:gd name="T16" fmla="*/ 2 w 17"/>
                <a:gd name="T17" fmla="*/ 0 h 20"/>
                <a:gd name="T18" fmla="*/ 9 w 17"/>
                <a:gd name="T19" fmla="*/ 0 h 20"/>
                <a:gd name="T20" fmla="*/ 15 w 17"/>
                <a:gd name="T21" fmla="*/ 2 h 20"/>
                <a:gd name="T22" fmla="*/ 17 w 17"/>
                <a:gd name="T23" fmla="*/ 7 h 20"/>
                <a:gd name="T24" fmla="*/ 17 w 17"/>
                <a:gd name="T25" fmla="*/ 7 h 20"/>
                <a:gd name="T26" fmla="*/ 13 w 17"/>
                <a:gd name="T27" fmla="*/ 13 h 20"/>
                <a:gd name="T28" fmla="*/ 16 w 17"/>
                <a:gd name="T29" fmla="*/ 17 h 20"/>
                <a:gd name="T30" fmla="*/ 16 w 17"/>
                <a:gd name="T31" fmla="*/ 18 h 20"/>
                <a:gd name="T32" fmla="*/ 14 w 17"/>
                <a:gd name="T33" fmla="*/ 20 h 20"/>
                <a:gd name="T34" fmla="*/ 12 w 17"/>
                <a:gd name="T35" fmla="*/ 19 h 20"/>
                <a:gd name="T36" fmla="*/ 8 w 17"/>
                <a:gd name="T37" fmla="*/ 14 h 20"/>
                <a:gd name="T38" fmla="*/ 5 w 17"/>
                <a:gd name="T39" fmla="*/ 14 h 20"/>
                <a:gd name="T40" fmla="*/ 5 w 17"/>
                <a:gd name="T41" fmla="*/ 18 h 20"/>
                <a:gd name="T42" fmla="*/ 2 w 17"/>
                <a:gd name="T43" fmla="*/ 20 h 20"/>
                <a:gd name="T44" fmla="*/ 0 w 17"/>
                <a:gd name="T45" fmla="*/ 18 h 20"/>
                <a:gd name="T46" fmla="*/ 0 w 17"/>
                <a:gd name="T4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20">
                  <a:moveTo>
                    <a:pt x="9" y="10"/>
                  </a:moveTo>
                  <a:cubicBezTo>
                    <a:pt x="11" y="10"/>
                    <a:pt x="12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5"/>
                    <a:pt x="11" y="4"/>
                    <a:pt x="9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0"/>
                    <a:pt x="5" y="10"/>
                    <a:pt x="5" y="10"/>
                  </a:cubicBezTo>
                  <a:lnTo>
                    <a:pt x="9" y="10"/>
                  </a:lnTo>
                  <a:close/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4" y="1"/>
                    <a:pt x="15" y="2"/>
                  </a:cubicBezTo>
                  <a:cubicBezTo>
                    <a:pt x="16" y="3"/>
                    <a:pt x="17" y="5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10"/>
                    <a:pt x="15" y="12"/>
                    <a:pt x="13" y="13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8"/>
                    <a:pt x="16" y="18"/>
                  </a:cubicBezTo>
                  <a:cubicBezTo>
                    <a:pt x="16" y="19"/>
                    <a:pt x="15" y="20"/>
                    <a:pt x="14" y="20"/>
                  </a:cubicBezTo>
                  <a:cubicBezTo>
                    <a:pt x="13" y="20"/>
                    <a:pt x="13" y="20"/>
                    <a:pt x="12" y="19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4" y="20"/>
                    <a:pt x="2" y="20"/>
                  </a:cubicBezTo>
                  <a:cubicBezTo>
                    <a:pt x="1" y="20"/>
                    <a:pt x="0" y="19"/>
                    <a:pt x="0" y="18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71707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baseline="0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0A2C43B-3928-4C21-81F0-0AA332C8F322}"/>
              </a:ext>
            </a:extLst>
          </p:cNvPr>
          <p:cNvSpPr txBox="1"/>
          <p:nvPr userDrawn="1"/>
        </p:nvSpPr>
        <p:spPr bwMode="white">
          <a:xfrm flipH="1">
            <a:off x="2073593" y="6506318"/>
            <a:ext cx="1728888" cy="18669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800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©2020 VMware, Inc.</a:t>
            </a:r>
          </a:p>
        </p:txBody>
      </p:sp>
    </p:spTree>
    <p:extLst>
      <p:ext uri="{BB962C8B-B14F-4D97-AF65-F5344CB8AC3E}">
        <p14:creationId xmlns:p14="http://schemas.microsoft.com/office/powerpoint/2010/main" val="928140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7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800"/>
        </a:spcBef>
        <a:buClr>
          <a:schemeClr val="tx1">
            <a:lumMod val="60000"/>
            <a:lumOff val="40000"/>
          </a:schemeClr>
        </a:buClr>
        <a:buSzPct val="90000"/>
        <a:buFont typeface="Arial" panose="020B0604020202020204" pitchFamily="34" charset="0"/>
        <a:buChar char="​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184150" algn="l" defTabSz="9144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SzPct val="9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744538" indent="-169863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tx2"/>
        </a:buClr>
        <a:buSzPct val="90000"/>
        <a:buFont typeface="Camphor Std" panose="020B0504030404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69963" indent="-166688" algn="l" defTabSz="9144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SzPct val="90000"/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138113" algn="l" defTabSz="9144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SzPct val="90000"/>
        <a:buFont typeface="Camphor Std" panose="020B0504030404020204" pitchFamily="34" charset="0"/>
        <a:buChar char="–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28600" indent="-228600" algn="l" defTabSz="914400" rtl="0" eaLnBrk="1" latinLnBrk="0" hangingPunct="1">
        <a:lnSpc>
          <a:spcPct val="100000"/>
        </a:lnSpc>
        <a:spcBef>
          <a:spcPts val="1800"/>
        </a:spcBef>
        <a:buClr>
          <a:schemeClr val="tx2"/>
        </a:buClr>
        <a:buSzPct val="90000"/>
        <a:buFont typeface="+mj-lt"/>
        <a:buAutoNum type="arabicPeriod"/>
        <a:defRPr sz="2000" kern="1200">
          <a:solidFill>
            <a:schemeClr val="tx2"/>
          </a:solidFill>
          <a:latin typeface="+mn-lt"/>
          <a:ea typeface="+mn-ea"/>
          <a:cs typeface="+mn-cs"/>
        </a:defRPr>
      </a:lvl6pPr>
      <a:lvl7pPr marL="512763" indent="-228600" algn="l" defTabSz="9144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SzPct val="90000"/>
        <a:buFont typeface="+mj-lt"/>
        <a:buAutoNum type="alphaLcPeriod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741363" indent="-166688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90000"/>
        <a:buFont typeface="+mj-lt"/>
        <a:buAutoNum type="romanLcPeriod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84163" indent="-284163" algn="l" defTabSz="914400" rtl="0" eaLnBrk="1" latinLnBrk="0" hangingPunct="1">
        <a:lnSpc>
          <a:spcPct val="100000"/>
        </a:lnSpc>
        <a:spcBef>
          <a:spcPts val="1800"/>
        </a:spcBef>
        <a:buClr>
          <a:schemeClr val="tx2"/>
        </a:buClr>
        <a:buSzPct val="90000"/>
        <a:buFont typeface="+mj-lt"/>
        <a:buAutoNum type="alphaUcPeriod"/>
        <a:defRPr sz="20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orient="horz" pos="1872">
          <p15:clr>
            <a:srgbClr val="F26B43"/>
          </p15:clr>
        </p15:guide>
        <p15:guide id="4" orient="horz" pos="1584">
          <p15:clr>
            <a:srgbClr val="F26B43"/>
          </p15:clr>
        </p15:guide>
        <p15:guide id="5" orient="horz" pos="1296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720">
          <p15:clr>
            <a:srgbClr val="F26B43"/>
          </p15:clr>
        </p15:guide>
        <p15:guide id="8" orient="horz" pos="576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2448">
          <p15:clr>
            <a:srgbClr val="F26B43"/>
          </p15:clr>
        </p15:guide>
        <p15:guide id="12" orient="horz" pos="2736">
          <p15:clr>
            <a:srgbClr val="F26B43"/>
          </p15:clr>
        </p15:guide>
        <p15:guide id="13" orient="horz" pos="3024">
          <p15:clr>
            <a:srgbClr val="F26B43"/>
          </p15:clr>
        </p15:guide>
        <p15:guide id="14" orient="horz" pos="3312">
          <p15:clr>
            <a:srgbClr val="F26B43"/>
          </p15:clr>
        </p15:guide>
        <p15:guide id="15" orient="horz" pos="3600">
          <p15:clr>
            <a:srgbClr val="F26B43"/>
          </p15:clr>
        </p15:guide>
        <p15:guide id="16" orient="horz" pos="3888">
          <p15:clr>
            <a:srgbClr val="F26B43"/>
          </p15:clr>
        </p15:guide>
        <p15:guide id="17" orient="horz" pos="4032">
          <p15:clr>
            <a:srgbClr val="F26B43"/>
          </p15:clr>
        </p15:guide>
        <p15:guide id="18" pos="3551">
          <p15:clr>
            <a:srgbClr val="F26B43"/>
          </p15:clr>
        </p15:guide>
        <p15:guide id="19" pos="3263">
          <p15:clr>
            <a:srgbClr val="F26B43"/>
          </p15:clr>
        </p15:guide>
        <p15:guide id="20" pos="2975">
          <p15:clr>
            <a:srgbClr val="F26B43"/>
          </p15:clr>
        </p15:guide>
        <p15:guide id="21" pos="2687">
          <p15:clr>
            <a:srgbClr val="F26B43"/>
          </p15:clr>
        </p15:guide>
        <p15:guide id="22" pos="2399">
          <p15:clr>
            <a:srgbClr val="F26B43"/>
          </p15:clr>
        </p15:guide>
        <p15:guide id="23" pos="2111">
          <p15:clr>
            <a:srgbClr val="F26B43"/>
          </p15:clr>
        </p15:guide>
        <p15:guide id="24" pos="1823">
          <p15:clr>
            <a:srgbClr val="F26B43"/>
          </p15:clr>
        </p15:guide>
        <p15:guide id="25" pos="1535">
          <p15:clr>
            <a:srgbClr val="F26B43"/>
          </p15:clr>
        </p15:guide>
        <p15:guide id="26" pos="1247">
          <p15:clr>
            <a:srgbClr val="F26B43"/>
          </p15:clr>
        </p15:guide>
        <p15:guide id="27" pos="959">
          <p15:clr>
            <a:srgbClr val="F26B43"/>
          </p15:clr>
        </p15:guide>
        <p15:guide id="28" pos="671">
          <p15:clr>
            <a:srgbClr val="F26B43"/>
          </p15:clr>
        </p15:guide>
        <p15:guide id="29" pos="383">
          <p15:clr>
            <a:srgbClr val="F26B43"/>
          </p15:clr>
        </p15:guide>
        <p15:guide id="30" pos="4127">
          <p15:clr>
            <a:srgbClr val="F26B43"/>
          </p15:clr>
        </p15:guide>
        <p15:guide id="31" pos="4415">
          <p15:clr>
            <a:srgbClr val="F26B43"/>
          </p15:clr>
        </p15:guide>
        <p15:guide id="32" pos="4703">
          <p15:clr>
            <a:srgbClr val="F26B43"/>
          </p15:clr>
        </p15:guide>
        <p15:guide id="33" pos="4991">
          <p15:clr>
            <a:srgbClr val="F26B43"/>
          </p15:clr>
        </p15:guide>
        <p15:guide id="34" pos="5279">
          <p15:clr>
            <a:srgbClr val="F26B43"/>
          </p15:clr>
        </p15:guide>
        <p15:guide id="35" pos="5567">
          <p15:clr>
            <a:srgbClr val="F26B43"/>
          </p15:clr>
        </p15:guide>
        <p15:guide id="36" pos="5855">
          <p15:clr>
            <a:srgbClr val="F26B43"/>
          </p15:clr>
        </p15:guide>
        <p15:guide id="37" pos="6143">
          <p15:clr>
            <a:srgbClr val="F26B43"/>
          </p15:clr>
        </p15:guide>
        <p15:guide id="38" pos="6431">
          <p15:clr>
            <a:srgbClr val="F26B43"/>
          </p15:clr>
        </p15:guide>
        <p15:guide id="39" pos="6719">
          <p15:clr>
            <a:srgbClr val="F26B43"/>
          </p15:clr>
        </p15:guide>
        <p15:guide id="40" pos="7007">
          <p15:clr>
            <a:srgbClr val="F26B43"/>
          </p15:clr>
        </p15:guide>
        <p15:guide id="41" pos="7295">
          <p15:clr>
            <a:srgbClr val="F26B43"/>
          </p15:clr>
        </p15:guide>
        <p15:guide id="42" pos="7678">
          <p15:clr>
            <a:srgbClr val="F26B43"/>
          </p15:clr>
        </p15:guide>
        <p15:guide id="43" orient="horz" pos="4320">
          <p15:clr>
            <a:srgbClr val="F26B43"/>
          </p15:clr>
        </p15:guide>
        <p15:guide id="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FF54C76-1396-24AB-B5E3-FAA05266DF33}"/>
              </a:ext>
            </a:extLst>
          </p:cNvPr>
          <p:cNvSpPr/>
          <p:nvPr/>
        </p:nvSpPr>
        <p:spPr>
          <a:xfrm>
            <a:off x="4481624" y="1644038"/>
            <a:ext cx="5046549" cy="389913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sz="1600" b="1" dirty="0">
                <a:solidFill>
                  <a:schemeClr val="tx2">
                    <a:lumMod val="50000"/>
                  </a:schemeClr>
                </a:solidFill>
              </a:rPr>
              <a:t>Deploy MGMT Domain</a:t>
            </a:r>
          </a:p>
          <a:p>
            <a:pPr algn="ctr"/>
            <a:r>
              <a:rPr lang="en-CA" sz="1600" i="1" dirty="0">
                <a:solidFill>
                  <a:schemeClr val="tx2">
                    <a:lumMod val="50000"/>
                  </a:schemeClr>
                </a:solidFill>
              </a:rPr>
              <a:t>Feature playbook</a:t>
            </a:r>
          </a:p>
        </p:txBody>
      </p:sp>
      <p:sp>
        <p:nvSpPr>
          <p:cNvPr id="2" name="Config box">
            <a:extLst>
              <a:ext uri="{FF2B5EF4-FFF2-40B4-BE49-F238E27FC236}">
                <a16:creationId xmlns:a16="http://schemas.microsoft.com/office/drawing/2014/main" id="{D67535B3-E9D1-2D03-E474-762E1A060D32}"/>
              </a:ext>
            </a:extLst>
          </p:cNvPr>
          <p:cNvSpPr/>
          <p:nvPr/>
        </p:nvSpPr>
        <p:spPr>
          <a:xfrm>
            <a:off x="614756" y="1130642"/>
            <a:ext cx="2956315" cy="4796605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CA" sz="1400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07C897-902C-BD45-1F02-5A61F6F17045}"/>
              </a:ext>
            </a:extLst>
          </p:cNvPr>
          <p:cNvSpPr/>
          <p:nvPr/>
        </p:nvSpPr>
        <p:spPr>
          <a:xfrm>
            <a:off x="7673976" y="2686522"/>
            <a:ext cx="1501346" cy="2115823"/>
          </a:xfrm>
          <a:prstGeom prst="rect">
            <a:avLst/>
          </a:prstGeom>
          <a:solidFill>
            <a:srgbClr val="008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1600" b="1" dirty="0">
                <a:solidFill>
                  <a:schemeClr val="bg1"/>
                </a:solidFill>
              </a:rPr>
              <a:t>Feature</a:t>
            </a:r>
          </a:p>
          <a:p>
            <a:pPr algn="ctr">
              <a:spcAft>
                <a:spcPts val="600"/>
              </a:spcAft>
            </a:pPr>
            <a:r>
              <a:rPr lang="en-CA" sz="1600" b="1" dirty="0">
                <a:solidFill>
                  <a:schemeClr val="bg1"/>
                </a:solidFill>
              </a:rPr>
              <a:t>Code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5EFA26-B990-14B1-B3D6-18C86E543E9C}"/>
              </a:ext>
            </a:extLst>
          </p:cNvPr>
          <p:cNvSpPr/>
          <p:nvPr/>
        </p:nvSpPr>
        <p:spPr>
          <a:xfrm>
            <a:off x="680537" y="1710203"/>
            <a:ext cx="2808434" cy="694763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600"/>
              </a:spcAft>
            </a:pPr>
            <a:r>
              <a:rPr lang="en-CA" sz="1000" dirty="0">
                <a:solidFill>
                  <a:schemeClr val="tx2"/>
                </a:solidFill>
              </a:rPr>
              <a:t>vSphere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2103BE-71A6-FD5C-30A6-E9B4F5734080}"/>
              </a:ext>
            </a:extLst>
          </p:cNvPr>
          <p:cNvSpPr/>
          <p:nvPr/>
        </p:nvSpPr>
        <p:spPr>
          <a:xfrm>
            <a:off x="1384816" y="2513076"/>
            <a:ext cx="704279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1000" dirty="0" err="1">
                <a:solidFill>
                  <a:schemeClr val="bg1"/>
                </a:solidFill>
              </a:rPr>
              <a:t>vSAN</a:t>
            </a:r>
            <a:endParaRPr lang="en-CA" sz="1000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3247FB3-C031-0539-7DCF-B1F2DCB7AA63}"/>
              </a:ext>
            </a:extLst>
          </p:cNvPr>
          <p:cNvSpPr/>
          <p:nvPr/>
        </p:nvSpPr>
        <p:spPr>
          <a:xfrm>
            <a:off x="1384816" y="3052779"/>
            <a:ext cx="704279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1000" dirty="0">
                <a:solidFill>
                  <a:schemeClr val="bg1"/>
                </a:solidFill>
              </a:rPr>
              <a:t>NSX-T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114BE5B-D9A3-B241-F982-3CA7D9967274}"/>
              </a:ext>
            </a:extLst>
          </p:cNvPr>
          <p:cNvSpPr/>
          <p:nvPr/>
        </p:nvSpPr>
        <p:spPr>
          <a:xfrm>
            <a:off x="1384816" y="3589691"/>
            <a:ext cx="704279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1000" dirty="0">
                <a:solidFill>
                  <a:schemeClr val="bg1"/>
                </a:solidFill>
              </a:rPr>
              <a:t>DNS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F40501-79CD-63CB-54B9-E7E33D244972}"/>
              </a:ext>
            </a:extLst>
          </p:cNvPr>
          <p:cNvSpPr/>
          <p:nvPr/>
        </p:nvSpPr>
        <p:spPr>
          <a:xfrm>
            <a:off x="1384816" y="4135146"/>
            <a:ext cx="704279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1000" dirty="0">
                <a:solidFill>
                  <a:schemeClr val="bg1"/>
                </a:solidFill>
              </a:rPr>
              <a:t>License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A71D8F-1631-692B-A638-8ADBE2F10E6C}"/>
              </a:ext>
            </a:extLst>
          </p:cNvPr>
          <p:cNvSpPr/>
          <p:nvPr/>
        </p:nvSpPr>
        <p:spPr>
          <a:xfrm>
            <a:off x="1384816" y="4681890"/>
            <a:ext cx="704279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1000" dirty="0">
                <a:solidFill>
                  <a:schemeClr val="bg1"/>
                </a:solidFill>
              </a:rPr>
              <a:t>Proxy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2A89453-0576-0121-256F-F93AA803A45C}"/>
              </a:ext>
            </a:extLst>
          </p:cNvPr>
          <p:cNvSpPr/>
          <p:nvPr/>
        </p:nvSpPr>
        <p:spPr>
          <a:xfrm>
            <a:off x="1384816" y="5222580"/>
            <a:ext cx="704279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1000" dirty="0">
                <a:solidFill>
                  <a:schemeClr val="bg1"/>
                </a:solidFill>
              </a:rPr>
              <a:t>vSAN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1CC94E8-9ADA-A030-1786-B5F256213955}"/>
              </a:ext>
            </a:extLst>
          </p:cNvPr>
          <p:cNvCxnSpPr>
            <a:cxnSpLocks/>
            <a:stCxn id="4" idx="3"/>
            <a:endCxn id="23" idx="1"/>
          </p:cNvCxnSpPr>
          <p:nvPr/>
        </p:nvCxnSpPr>
        <p:spPr bwMode="gray">
          <a:xfrm flipV="1">
            <a:off x="9175322" y="2604588"/>
            <a:ext cx="1097752" cy="1139846"/>
          </a:xfrm>
          <a:prstGeom prst="straightConnector1">
            <a:avLst/>
          </a:prstGeom>
          <a:ln w="254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E470987-E84E-0320-1937-B03E8FA67BA8}"/>
              </a:ext>
            </a:extLst>
          </p:cNvPr>
          <p:cNvSpPr/>
          <p:nvPr/>
        </p:nvSpPr>
        <p:spPr>
          <a:xfrm>
            <a:off x="10270262" y="3922687"/>
            <a:ext cx="1273955" cy="142273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1000" b="1" dirty="0">
                <a:solidFill>
                  <a:schemeClr val="tx2"/>
                </a:solidFill>
              </a:rPr>
              <a:t>DC 1, WLD1</a:t>
            </a:r>
          </a:p>
        </p:txBody>
      </p:sp>
      <p:sp>
        <p:nvSpPr>
          <p:cNvPr id="23" name="!!DC1 box">
            <a:extLst>
              <a:ext uri="{FF2B5EF4-FFF2-40B4-BE49-F238E27FC236}">
                <a16:creationId xmlns:a16="http://schemas.microsoft.com/office/drawing/2014/main" id="{FAC7D6FF-64F0-DB08-45CD-2874426C18EB}"/>
              </a:ext>
            </a:extLst>
          </p:cNvPr>
          <p:cNvSpPr/>
          <p:nvPr/>
        </p:nvSpPr>
        <p:spPr>
          <a:xfrm>
            <a:off x="10273074" y="1582625"/>
            <a:ext cx="1273955" cy="204392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1000" b="1" dirty="0">
                <a:solidFill>
                  <a:schemeClr val="tx2"/>
                </a:solidFill>
              </a:rPr>
              <a:t>DC 1, MGMT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2A09C90-2A9C-981D-0164-A189B068F32E}"/>
              </a:ext>
            </a:extLst>
          </p:cNvPr>
          <p:cNvSpPr/>
          <p:nvPr/>
        </p:nvSpPr>
        <p:spPr>
          <a:xfrm>
            <a:off x="10578791" y="2873549"/>
            <a:ext cx="711678" cy="28150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NSX-T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A0AE402-61B0-690B-FD00-E3135137F49E}"/>
              </a:ext>
            </a:extLst>
          </p:cNvPr>
          <p:cNvSpPr/>
          <p:nvPr/>
        </p:nvSpPr>
        <p:spPr>
          <a:xfrm>
            <a:off x="10578792" y="2203909"/>
            <a:ext cx="711678" cy="28150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vSphere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8EDFB48-2311-FB2A-1533-C914E8E1FFEC}"/>
              </a:ext>
            </a:extLst>
          </p:cNvPr>
          <p:cNvSpPr/>
          <p:nvPr/>
        </p:nvSpPr>
        <p:spPr>
          <a:xfrm>
            <a:off x="10578792" y="3208370"/>
            <a:ext cx="711678" cy="28150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SDDC Manager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223BF99-6746-38DF-A6A5-E38859E37EE3}"/>
              </a:ext>
            </a:extLst>
          </p:cNvPr>
          <p:cNvSpPr/>
          <p:nvPr/>
        </p:nvSpPr>
        <p:spPr>
          <a:xfrm>
            <a:off x="10578791" y="2538729"/>
            <a:ext cx="711678" cy="28150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vSAN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4ACBCF1-4257-3F01-46A3-C25DD1C20A7C}"/>
              </a:ext>
            </a:extLst>
          </p:cNvPr>
          <p:cNvCxnSpPr>
            <a:cxnSpLocks/>
            <a:stCxn id="4" idx="3"/>
            <a:endCxn id="38" idx="1"/>
          </p:cNvCxnSpPr>
          <p:nvPr/>
        </p:nvCxnSpPr>
        <p:spPr bwMode="gray">
          <a:xfrm>
            <a:off x="9175322" y="3744434"/>
            <a:ext cx="1094940" cy="889619"/>
          </a:xfrm>
          <a:prstGeom prst="straightConnector1">
            <a:avLst/>
          </a:prstGeom>
          <a:ln w="25400">
            <a:solidFill>
              <a:schemeClr val="tx1">
                <a:alpha val="42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0FA6159-BD8E-C53B-AAAD-D9EB4F5C3274}"/>
              </a:ext>
            </a:extLst>
          </p:cNvPr>
          <p:cNvSpPr txBox="1"/>
          <p:nvPr/>
        </p:nvSpPr>
        <p:spPr>
          <a:xfrm>
            <a:off x="1525309" y="1243928"/>
            <a:ext cx="418383" cy="400110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050" dirty="0">
                <a:solidFill>
                  <a:schemeClr val="tx2"/>
                </a:solidFill>
              </a:rPr>
              <a:t>Base</a:t>
            </a:r>
          </a:p>
          <a:p>
            <a:pPr algn="ctr">
              <a:spcAft>
                <a:spcPts val="600"/>
              </a:spcAft>
            </a:pPr>
            <a:r>
              <a:rPr lang="en-US" sz="1050" dirty="0">
                <a:solidFill>
                  <a:schemeClr val="tx2"/>
                </a:solidFill>
              </a:rPr>
              <a:t>Config</a:t>
            </a:r>
            <a:endParaRPr lang="en-CA" sz="1050" dirty="0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9EF551-16EB-F467-8E67-6BA273347B3E}"/>
              </a:ext>
            </a:extLst>
          </p:cNvPr>
          <p:cNvSpPr txBox="1"/>
          <p:nvPr/>
        </p:nvSpPr>
        <p:spPr>
          <a:xfrm>
            <a:off x="2559857" y="1243928"/>
            <a:ext cx="780663" cy="400110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050" dirty="0">
                <a:solidFill>
                  <a:schemeClr val="tx2"/>
                </a:solidFill>
              </a:rPr>
              <a:t>DC1 Domain</a:t>
            </a:r>
          </a:p>
          <a:p>
            <a:pPr algn="ctr">
              <a:spcAft>
                <a:spcPts val="600"/>
              </a:spcAft>
            </a:pPr>
            <a:r>
              <a:rPr lang="en-US" sz="1050" dirty="0">
                <a:solidFill>
                  <a:schemeClr val="tx2"/>
                </a:solidFill>
              </a:rPr>
              <a:t>Config</a:t>
            </a:r>
            <a:endParaRPr lang="en-CA" sz="1050" dirty="0">
              <a:solidFill>
                <a:schemeClr val="tx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4CD36-EC8D-D7B4-99D6-7EE4F522FA54}"/>
              </a:ext>
            </a:extLst>
          </p:cNvPr>
          <p:cNvSpPr/>
          <p:nvPr/>
        </p:nvSpPr>
        <p:spPr>
          <a:xfrm>
            <a:off x="2496619" y="1966605"/>
            <a:ext cx="423738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700" dirty="0">
                <a:solidFill>
                  <a:schemeClr val="bg1"/>
                </a:solidFill>
              </a:rPr>
              <a:t>MGMT</a:t>
            </a:r>
            <a:endParaRPr lang="en-CA" sz="700" b="1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918E10-68CE-F9DA-FAE6-CAD676F0F230}"/>
              </a:ext>
            </a:extLst>
          </p:cNvPr>
          <p:cNvSpPr/>
          <p:nvPr/>
        </p:nvSpPr>
        <p:spPr>
          <a:xfrm>
            <a:off x="3026609" y="1966605"/>
            <a:ext cx="365745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700" dirty="0">
                <a:solidFill>
                  <a:schemeClr val="bg1"/>
                </a:solidFill>
              </a:rPr>
              <a:t>WLD1</a:t>
            </a:r>
            <a:endParaRPr lang="en-CA" sz="700" b="1" dirty="0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C134AFB-75C5-6CE4-CD37-22196407186C}"/>
              </a:ext>
            </a:extLst>
          </p:cNvPr>
          <p:cNvSpPr/>
          <p:nvPr/>
        </p:nvSpPr>
        <p:spPr>
          <a:xfrm>
            <a:off x="1533987" y="1972386"/>
            <a:ext cx="456100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base</a:t>
            </a:r>
            <a:endParaRPr lang="en-CA" sz="800" b="1" dirty="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6EE24DC-BAF5-20E3-30F2-9361128F24D9}"/>
              </a:ext>
            </a:extLst>
          </p:cNvPr>
          <p:cNvSpPr txBox="1"/>
          <p:nvPr/>
        </p:nvSpPr>
        <p:spPr>
          <a:xfrm>
            <a:off x="4617085" y="2686523"/>
            <a:ext cx="2051844" cy="246221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chemeClr val="tx2"/>
                </a:solidFill>
              </a:rPr>
              <a:t>Coupling Framework</a:t>
            </a:r>
            <a:endParaRPr lang="en-CA" sz="1600" b="1" dirty="0">
              <a:solidFill>
                <a:schemeClr val="tx2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59AB383-CFF4-1AEF-71A8-4383B923F8E0}"/>
              </a:ext>
            </a:extLst>
          </p:cNvPr>
          <p:cNvSpPr txBox="1"/>
          <p:nvPr/>
        </p:nvSpPr>
        <p:spPr>
          <a:xfrm>
            <a:off x="924234" y="569947"/>
            <a:ext cx="2316340" cy="492443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Configuration Data</a:t>
            </a:r>
          </a:p>
          <a:p>
            <a:pPr algn="ctr"/>
            <a:r>
              <a:rPr lang="en-US" sz="1600" i="1" dirty="0" err="1">
                <a:solidFill>
                  <a:schemeClr val="tx2"/>
                </a:solidFill>
              </a:rPr>
              <a:t>IaC</a:t>
            </a:r>
            <a:r>
              <a:rPr lang="en-US" sz="1600" i="1" dirty="0">
                <a:solidFill>
                  <a:schemeClr val="tx2"/>
                </a:solidFill>
              </a:rPr>
              <a:t> - Git Repo &amp; Branch</a:t>
            </a:r>
            <a:endParaRPr lang="en-CA" sz="1600" i="1" dirty="0">
              <a:solidFill>
                <a:schemeClr val="tx2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4034FE8-F25B-7D47-F88F-B7CC1355369F}"/>
              </a:ext>
            </a:extLst>
          </p:cNvPr>
          <p:cNvSpPr/>
          <p:nvPr/>
        </p:nvSpPr>
        <p:spPr>
          <a:xfrm>
            <a:off x="10578791" y="1869089"/>
            <a:ext cx="711678" cy="28150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Cloud Builder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D761A30-19F9-DF9F-7318-B1D898D16A29}"/>
              </a:ext>
            </a:extLst>
          </p:cNvPr>
          <p:cNvSpPr/>
          <p:nvPr/>
        </p:nvSpPr>
        <p:spPr>
          <a:xfrm>
            <a:off x="10570112" y="4957599"/>
            <a:ext cx="711678" cy="28150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NSX-T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B80BE7F-A49B-C280-4BEF-7FC31C699556}"/>
              </a:ext>
            </a:extLst>
          </p:cNvPr>
          <p:cNvSpPr/>
          <p:nvPr/>
        </p:nvSpPr>
        <p:spPr>
          <a:xfrm>
            <a:off x="10570113" y="4314991"/>
            <a:ext cx="711678" cy="28150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vSphere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DD88B92-FD29-A5AE-E258-F6B845E9262D}"/>
              </a:ext>
            </a:extLst>
          </p:cNvPr>
          <p:cNvSpPr/>
          <p:nvPr/>
        </p:nvSpPr>
        <p:spPr>
          <a:xfrm>
            <a:off x="10570112" y="4643157"/>
            <a:ext cx="711678" cy="28150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vSAN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F2455C-077C-3B51-CDB9-80537B1EEAF7}"/>
              </a:ext>
            </a:extLst>
          </p:cNvPr>
          <p:cNvSpPr txBox="1"/>
          <p:nvPr/>
        </p:nvSpPr>
        <p:spPr>
          <a:xfrm>
            <a:off x="10074618" y="1092098"/>
            <a:ext cx="1720023" cy="246221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chemeClr val="tx2"/>
                </a:solidFill>
              </a:rPr>
              <a:t>Infra Components</a:t>
            </a:r>
            <a:endParaRPr lang="en-CA" sz="1600" b="1" dirty="0">
              <a:solidFill>
                <a:schemeClr val="tx2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98607D5-675A-F88B-EC70-7FA9E9CC977E}"/>
              </a:ext>
            </a:extLst>
          </p:cNvPr>
          <p:cNvCxnSpPr>
            <a:cxnSpLocks/>
            <a:endCxn id="4" idx="1"/>
          </p:cNvCxnSpPr>
          <p:nvPr/>
        </p:nvCxnSpPr>
        <p:spPr bwMode="gray">
          <a:xfrm>
            <a:off x="3571071" y="3744020"/>
            <a:ext cx="4102905" cy="414"/>
          </a:xfrm>
          <a:prstGeom prst="straightConnector1">
            <a:avLst/>
          </a:prstGeom>
          <a:ln w="254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onfig box">
            <a:extLst>
              <a:ext uri="{FF2B5EF4-FFF2-40B4-BE49-F238E27FC236}">
                <a16:creationId xmlns:a16="http://schemas.microsoft.com/office/drawing/2014/main" id="{329003D5-477A-7462-F0F0-BF772A20ABE6}"/>
              </a:ext>
            </a:extLst>
          </p:cNvPr>
          <p:cNvSpPr/>
          <p:nvPr/>
        </p:nvSpPr>
        <p:spPr>
          <a:xfrm>
            <a:off x="10249642" y="3885852"/>
            <a:ext cx="1324427" cy="1521290"/>
          </a:xfrm>
          <a:prstGeom prst="rect">
            <a:avLst/>
          </a:prstGeom>
          <a:solidFill>
            <a:srgbClr val="FFFFFF">
              <a:alpha val="70000"/>
            </a:srgb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CA" sz="1400" dirty="0">
              <a:solidFill>
                <a:schemeClr val="tx2"/>
              </a:solidFill>
            </a:endParaRPr>
          </a:p>
        </p:txBody>
      </p:sp>
      <p:pic>
        <p:nvPicPr>
          <p:cNvPr id="53" name="Content Placeholder 3" descr="Gears with solid fill">
            <a:extLst>
              <a:ext uri="{FF2B5EF4-FFF2-40B4-BE49-F238E27FC236}">
                <a16:creationId xmlns:a16="http://schemas.microsoft.com/office/drawing/2014/main" id="{D85AF407-CF93-C388-E61B-C2EE14FC6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9085" y="2920512"/>
            <a:ext cx="1603348" cy="1603348"/>
          </a:xfrm>
          <a:prstGeom prst="rect">
            <a:avLst/>
          </a:prstGeom>
        </p:spPr>
      </p:pic>
      <p:sp>
        <p:nvSpPr>
          <p:cNvPr id="91" name="Config box">
            <a:extLst>
              <a:ext uri="{FF2B5EF4-FFF2-40B4-BE49-F238E27FC236}">
                <a16:creationId xmlns:a16="http://schemas.microsoft.com/office/drawing/2014/main" id="{A97996BB-DA1E-21ED-234C-292BC1F5D48F}"/>
              </a:ext>
            </a:extLst>
          </p:cNvPr>
          <p:cNvSpPr/>
          <p:nvPr/>
        </p:nvSpPr>
        <p:spPr>
          <a:xfrm>
            <a:off x="4840196" y="129530"/>
            <a:ext cx="4322161" cy="92280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600"/>
              </a:spcAft>
            </a:pPr>
            <a:r>
              <a:rPr lang="en-CA" sz="1400" b="1" dirty="0">
                <a:solidFill>
                  <a:schemeClr val="tx2"/>
                </a:solidFill>
              </a:rPr>
              <a:t>Inputs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0D04CAA-0305-7BE1-BD87-28DE9514C357}"/>
              </a:ext>
            </a:extLst>
          </p:cNvPr>
          <p:cNvSpPr/>
          <p:nvPr/>
        </p:nvSpPr>
        <p:spPr>
          <a:xfrm>
            <a:off x="6910414" y="476370"/>
            <a:ext cx="423738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MGMT</a:t>
            </a:r>
            <a:endParaRPr lang="en-CA" sz="800" b="1" dirty="0">
              <a:solidFill>
                <a:schemeClr val="bg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6404A6C-70A5-792A-BD91-424440F56198}"/>
              </a:ext>
            </a:extLst>
          </p:cNvPr>
          <p:cNvSpPr/>
          <p:nvPr/>
        </p:nvSpPr>
        <p:spPr>
          <a:xfrm>
            <a:off x="6419007" y="476370"/>
            <a:ext cx="423738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DC1</a:t>
            </a:r>
            <a:endParaRPr lang="en-CA" sz="800" b="1" dirty="0">
              <a:solidFill>
                <a:schemeClr val="bg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23E4FFF-1CB4-0A78-A64C-5B72DC163CD2}"/>
              </a:ext>
            </a:extLst>
          </p:cNvPr>
          <p:cNvSpPr/>
          <p:nvPr/>
        </p:nvSpPr>
        <p:spPr>
          <a:xfrm>
            <a:off x="5927598" y="476370"/>
            <a:ext cx="423738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AMER</a:t>
            </a:r>
            <a:endParaRPr lang="en-CA" sz="800" b="1" dirty="0">
              <a:solidFill>
                <a:schemeClr val="bg1"/>
              </a:solidFill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2B2A8A0-5D4E-37C9-7C8E-D1E7274415C4}"/>
              </a:ext>
            </a:extLst>
          </p:cNvPr>
          <p:cNvCxnSpPr>
            <a:cxnSpLocks/>
          </p:cNvCxnSpPr>
          <p:nvPr/>
        </p:nvCxnSpPr>
        <p:spPr bwMode="gray">
          <a:xfrm>
            <a:off x="7411549" y="253287"/>
            <a:ext cx="0" cy="741045"/>
          </a:xfrm>
          <a:prstGeom prst="line">
            <a:avLst/>
          </a:prstGeom>
          <a:ln w="158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8F4786B3-7DAF-AA71-906C-AC48D05C9F76}"/>
              </a:ext>
            </a:extLst>
          </p:cNvPr>
          <p:cNvSpPr txBox="1"/>
          <p:nvPr/>
        </p:nvSpPr>
        <p:spPr>
          <a:xfrm>
            <a:off x="6351336" y="206662"/>
            <a:ext cx="235642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dirty="0" err="1">
                <a:solidFill>
                  <a:schemeClr val="tx2"/>
                </a:solidFill>
              </a:rPr>
              <a:t>IaC</a:t>
            </a:r>
            <a:endParaRPr lang="en-CA" sz="1200" dirty="0">
              <a:solidFill>
                <a:schemeClr val="tx2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08E68A3-5148-0260-8831-5637B9B7021C}"/>
              </a:ext>
            </a:extLst>
          </p:cNvPr>
          <p:cNvSpPr txBox="1"/>
          <p:nvPr/>
        </p:nvSpPr>
        <p:spPr>
          <a:xfrm>
            <a:off x="7754756" y="228731"/>
            <a:ext cx="1064394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dirty="0">
                <a:solidFill>
                  <a:schemeClr val="tx2"/>
                </a:solidFill>
              </a:rPr>
              <a:t>Specific Inputs</a:t>
            </a:r>
            <a:endParaRPr lang="en-CA" sz="1200" dirty="0">
              <a:solidFill>
                <a:schemeClr val="tx2"/>
              </a:solidFill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80C4B8F5-ED8F-1F03-015B-BAAB06FE5FA5}"/>
              </a:ext>
            </a:extLst>
          </p:cNvPr>
          <p:cNvCxnSpPr>
            <a:cxnSpLocks/>
          </p:cNvCxnSpPr>
          <p:nvPr/>
        </p:nvCxnSpPr>
        <p:spPr bwMode="gray">
          <a:xfrm flipH="1">
            <a:off x="7001276" y="1052339"/>
            <a:ext cx="1" cy="591699"/>
          </a:xfrm>
          <a:prstGeom prst="straightConnector1">
            <a:avLst/>
          </a:prstGeom>
          <a:ln w="254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5CE8A51-FE0E-592F-3DAF-B1A981E72C85}"/>
              </a:ext>
            </a:extLst>
          </p:cNvPr>
          <p:cNvCxnSpPr/>
          <p:nvPr/>
        </p:nvCxnSpPr>
        <p:spPr bwMode="gray">
          <a:xfrm>
            <a:off x="2229166" y="1461928"/>
            <a:ext cx="0" cy="4358640"/>
          </a:xfrm>
          <a:prstGeom prst="line">
            <a:avLst/>
          </a:prstGeom>
          <a:ln w="158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7EE1CBE-7EC0-E89E-ED26-8B696EAF5F73}"/>
              </a:ext>
            </a:extLst>
          </p:cNvPr>
          <p:cNvGrpSpPr/>
          <p:nvPr/>
        </p:nvGrpSpPr>
        <p:grpSpPr>
          <a:xfrm>
            <a:off x="5119700" y="3473952"/>
            <a:ext cx="931541" cy="540135"/>
            <a:chOff x="4414838" y="3750878"/>
            <a:chExt cx="766761" cy="540135"/>
          </a:xfrm>
        </p:grpSpPr>
        <p:sp>
          <p:nvSpPr>
            <p:cNvPr id="8" name="vROps small">
              <a:extLst>
                <a:ext uri="{FF2B5EF4-FFF2-40B4-BE49-F238E27FC236}">
                  <a16:creationId xmlns:a16="http://schemas.microsoft.com/office/drawing/2014/main" id="{633BEE5A-0E9E-8BC7-A747-C3D7C043F8C3}"/>
                </a:ext>
              </a:extLst>
            </p:cNvPr>
            <p:cNvSpPr/>
            <p:nvPr/>
          </p:nvSpPr>
          <p:spPr>
            <a:xfrm>
              <a:off x="4414838" y="3750878"/>
              <a:ext cx="766761" cy="5401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CA" sz="700" b="1" dirty="0">
                  <a:solidFill>
                    <a:schemeClr val="tx2"/>
                  </a:solidFill>
                </a:rPr>
                <a:t>Combined Config</a:t>
              </a:r>
            </a:p>
          </p:txBody>
        </p:sp>
        <p:sp>
          <p:nvSpPr>
            <p:cNvPr id="9" name="base small">
              <a:extLst>
                <a:ext uri="{FF2B5EF4-FFF2-40B4-BE49-F238E27FC236}">
                  <a16:creationId xmlns:a16="http://schemas.microsoft.com/office/drawing/2014/main" id="{00CA137E-11FF-1A2A-1436-FAF0502523EA}"/>
                </a:ext>
              </a:extLst>
            </p:cNvPr>
            <p:cNvSpPr/>
            <p:nvPr/>
          </p:nvSpPr>
          <p:spPr>
            <a:xfrm>
              <a:off x="4540476" y="3926571"/>
              <a:ext cx="330319" cy="2763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2700">
              <a:solidFill>
                <a:schemeClr val="bg2">
                  <a:lumMod val="1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CA" sz="600" dirty="0">
                  <a:solidFill>
                    <a:schemeClr val="bg1"/>
                  </a:solidFill>
                </a:rPr>
                <a:t>base</a:t>
              </a:r>
              <a:endParaRPr lang="en-CA" sz="6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az1 small">
              <a:extLst>
                <a:ext uri="{FF2B5EF4-FFF2-40B4-BE49-F238E27FC236}">
                  <a16:creationId xmlns:a16="http://schemas.microsoft.com/office/drawing/2014/main" id="{BAC4884C-8BF0-E479-E066-056E8EC1DDEA}"/>
                </a:ext>
              </a:extLst>
            </p:cNvPr>
            <p:cNvSpPr/>
            <p:nvPr/>
          </p:nvSpPr>
          <p:spPr>
            <a:xfrm>
              <a:off x="4800324" y="3926571"/>
              <a:ext cx="308416" cy="2763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2700">
              <a:solidFill>
                <a:schemeClr val="bg2">
                  <a:lumMod val="1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CA" sz="600" dirty="0">
                  <a:solidFill>
                    <a:schemeClr val="bg1"/>
                  </a:solidFill>
                </a:rPr>
                <a:t>MGMT</a:t>
              </a:r>
              <a:endParaRPr lang="en-CA" sz="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B8DABA5-8356-DADE-B550-0A07C1D4BA04}"/>
              </a:ext>
            </a:extLst>
          </p:cNvPr>
          <p:cNvSpPr/>
          <p:nvPr/>
        </p:nvSpPr>
        <p:spPr>
          <a:xfrm>
            <a:off x="4944780" y="476370"/>
            <a:ext cx="423738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Git Repo</a:t>
            </a:r>
            <a:endParaRPr lang="en-CA" sz="800" b="1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BF59D8-3347-FB36-D1B6-D2990D149568}"/>
              </a:ext>
            </a:extLst>
          </p:cNvPr>
          <p:cNvSpPr/>
          <p:nvPr/>
        </p:nvSpPr>
        <p:spPr>
          <a:xfrm>
            <a:off x="5436189" y="476370"/>
            <a:ext cx="423738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Git Branch</a:t>
            </a:r>
            <a:endParaRPr lang="en-CA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18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FF54C76-1396-24AB-B5E3-FAA05266DF33}"/>
              </a:ext>
            </a:extLst>
          </p:cNvPr>
          <p:cNvSpPr/>
          <p:nvPr/>
        </p:nvSpPr>
        <p:spPr>
          <a:xfrm>
            <a:off x="4481624" y="1644038"/>
            <a:ext cx="5039304" cy="389913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sz="1600" b="1" dirty="0">
                <a:solidFill>
                  <a:schemeClr val="tx2">
                    <a:lumMod val="50000"/>
                  </a:schemeClr>
                </a:solidFill>
              </a:rPr>
              <a:t>Add Cluster </a:t>
            </a:r>
          </a:p>
          <a:p>
            <a:pPr algn="ctr"/>
            <a:r>
              <a:rPr lang="en-CA" sz="1600" i="1" dirty="0">
                <a:solidFill>
                  <a:schemeClr val="tx2">
                    <a:lumMod val="50000"/>
                  </a:schemeClr>
                </a:solidFill>
              </a:rPr>
              <a:t>Feature playbook</a:t>
            </a:r>
          </a:p>
        </p:txBody>
      </p:sp>
      <p:sp>
        <p:nvSpPr>
          <p:cNvPr id="2" name="Config box">
            <a:extLst>
              <a:ext uri="{FF2B5EF4-FFF2-40B4-BE49-F238E27FC236}">
                <a16:creationId xmlns:a16="http://schemas.microsoft.com/office/drawing/2014/main" id="{D67535B3-E9D1-2D03-E474-762E1A060D32}"/>
              </a:ext>
            </a:extLst>
          </p:cNvPr>
          <p:cNvSpPr/>
          <p:nvPr/>
        </p:nvSpPr>
        <p:spPr>
          <a:xfrm>
            <a:off x="614756" y="1130642"/>
            <a:ext cx="2956315" cy="4796605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CA" sz="1400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07C897-902C-BD45-1F02-5A61F6F17045}"/>
              </a:ext>
            </a:extLst>
          </p:cNvPr>
          <p:cNvSpPr/>
          <p:nvPr/>
        </p:nvSpPr>
        <p:spPr>
          <a:xfrm>
            <a:off x="7673976" y="2686522"/>
            <a:ext cx="1501346" cy="2115823"/>
          </a:xfrm>
          <a:prstGeom prst="rect">
            <a:avLst/>
          </a:prstGeom>
          <a:solidFill>
            <a:srgbClr val="008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1600" b="1" dirty="0">
                <a:solidFill>
                  <a:schemeClr val="bg1"/>
                </a:solidFill>
              </a:rPr>
              <a:t>Feature</a:t>
            </a:r>
          </a:p>
          <a:p>
            <a:pPr algn="ctr">
              <a:spcAft>
                <a:spcPts val="600"/>
              </a:spcAft>
            </a:pPr>
            <a:r>
              <a:rPr lang="en-CA" sz="1600" b="1" dirty="0">
                <a:solidFill>
                  <a:schemeClr val="bg1"/>
                </a:solidFill>
              </a:rPr>
              <a:t>Code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5EFA26-B990-14B1-B3D6-18C86E543E9C}"/>
              </a:ext>
            </a:extLst>
          </p:cNvPr>
          <p:cNvSpPr/>
          <p:nvPr/>
        </p:nvSpPr>
        <p:spPr>
          <a:xfrm>
            <a:off x="680537" y="1710203"/>
            <a:ext cx="2808434" cy="694763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600"/>
              </a:spcAft>
            </a:pPr>
            <a:r>
              <a:rPr lang="en-CA" sz="1000" dirty="0">
                <a:solidFill>
                  <a:schemeClr val="tx2"/>
                </a:solidFill>
              </a:rPr>
              <a:t>vSphere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2103BE-71A6-FD5C-30A6-E9B4F5734080}"/>
              </a:ext>
            </a:extLst>
          </p:cNvPr>
          <p:cNvSpPr/>
          <p:nvPr/>
        </p:nvSpPr>
        <p:spPr>
          <a:xfrm>
            <a:off x="1384816" y="2513076"/>
            <a:ext cx="704279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1000" dirty="0" err="1">
                <a:solidFill>
                  <a:schemeClr val="bg1"/>
                </a:solidFill>
              </a:rPr>
              <a:t>vSAN</a:t>
            </a:r>
            <a:endParaRPr lang="en-CA" sz="1000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3247FB3-C031-0539-7DCF-B1F2DCB7AA63}"/>
              </a:ext>
            </a:extLst>
          </p:cNvPr>
          <p:cNvSpPr/>
          <p:nvPr/>
        </p:nvSpPr>
        <p:spPr>
          <a:xfrm>
            <a:off x="1384816" y="3052779"/>
            <a:ext cx="704279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1000" dirty="0">
                <a:solidFill>
                  <a:schemeClr val="bg1"/>
                </a:solidFill>
              </a:rPr>
              <a:t>NSX-T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114BE5B-D9A3-B241-F982-3CA7D9967274}"/>
              </a:ext>
            </a:extLst>
          </p:cNvPr>
          <p:cNvSpPr/>
          <p:nvPr/>
        </p:nvSpPr>
        <p:spPr>
          <a:xfrm>
            <a:off x="1384816" y="3589691"/>
            <a:ext cx="704279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1000" dirty="0">
                <a:solidFill>
                  <a:schemeClr val="bg1"/>
                </a:solidFill>
              </a:rPr>
              <a:t>DNS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F40501-79CD-63CB-54B9-E7E33D244972}"/>
              </a:ext>
            </a:extLst>
          </p:cNvPr>
          <p:cNvSpPr/>
          <p:nvPr/>
        </p:nvSpPr>
        <p:spPr>
          <a:xfrm>
            <a:off x="1384816" y="4135146"/>
            <a:ext cx="704279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1000" dirty="0">
                <a:solidFill>
                  <a:schemeClr val="bg1"/>
                </a:solidFill>
              </a:rPr>
              <a:t>License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A71D8F-1631-692B-A638-8ADBE2F10E6C}"/>
              </a:ext>
            </a:extLst>
          </p:cNvPr>
          <p:cNvSpPr/>
          <p:nvPr/>
        </p:nvSpPr>
        <p:spPr>
          <a:xfrm>
            <a:off x="1384816" y="4681890"/>
            <a:ext cx="704279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1000" dirty="0">
                <a:solidFill>
                  <a:schemeClr val="bg1"/>
                </a:solidFill>
              </a:rPr>
              <a:t>Proxy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2A89453-0576-0121-256F-F93AA803A45C}"/>
              </a:ext>
            </a:extLst>
          </p:cNvPr>
          <p:cNvSpPr/>
          <p:nvPr/>
        </p:nvSpPr>
        <p:spPr>
          <a:xfrm>
            <a:off x="1384816" y="5222580"/>
            <a:ext cx="704279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1000" dirty="0">
                <a:solidFill>
                  <a:schemeClr val="bg1"/>
                </a:solidFill>
              </a:rPr>
              <a:t>vSAN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1CC94E8-9ADA-A030-1786-B5F256213955}"/>
              </a:ext>
            </a:extLst>
          </p:cNvPr>
          <p:cNvCxnSpPr>
            <a:cxnSpLocks/>
            <a:stCxn id="4" idx="3"/>
            <a:endCxn id="67" idx="1"/>
          </p:cNvCxnSpPr>
          <p:nvPr/>
        </p:nvCxnSpPr>
        <p:spPr bwMode="gray">
          <a:xfrm flipV="1">
            <a:off x="9175322" y="2604588"/>
            <a:ext cx="1097752" cy="1139846"/>
          </a:xfrm>
          <a:prstGeom prst="straightConnector1">
            <a:avLst/>
          </a:prstGeom>
          <a:ln w="254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E470987-E84E-0320-1937-B03E8FA67BA8}"/>
              </a:ext>
            </a:extLst>
          </p:cNvPr>
          <p:cNvSpPr/>
          <p:nvPr/>
        </p:nvSpPr>
        <p:spPr>
          <a:xfrm>
            <a:off x="10270262" y="3922687"/>
            <a:ext cx="1273955" cy="142273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1000" b="1" dirty="0">
                <a:solidFill>
                  <a:schemeClr val="tx2"/>
                </a:solidFill>
              </a:rPr>
              <a:t>DC 1, WLD1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4ACBCF1-4257-3F01-46A3-C25DD1C20A7C}"/>
              </a:ext>
            </a:extLst>
          </p:cNvPr>
          <p:cNvCxnSpPr>
            <a:cxnSpLocks/>
            <a:stCxn id="4" idx="3"/>
            <a:endCxn id="38" idx="1"/>
          </p:cNvCxnSpPr>
          <p:nvPr/>
        </p:nvCxnSpPr>
        <p:spPr bwMode="gray">
          <a:xfrm>
            <a:off x="9175322" y="3744434"/>
            <a:ext cx="1094940" cy="889619"/>
          </a:xfrm>
          <a:prstGeom prst="straightConnector1">
            <a:avLst/>
          </a:prstGeom>
          <a:ln w="25400">
            <a:solidFill>
              <a:schemeClr val="tx1">
                <a:alpha val="42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E3F253-9F46-F543-DFDD-7E1CC93CB820}"/>
              </a:ext>
            </a:extLst>
          </p:cNvPr>
          <p:cNvCxnSpPr/>
          <p:nvPr/>
        </p:nvCxnSpPr>
        <p:spPr bwMode="gray">
          <a:xfrm>
            <a:off x="2229166" y="1461928"/>
            <a:ext cx="0" cy="4358640"/>
          </a:xfrm>
          <a:prstGeom prst="line">
            <a:avLst/>
          </a:prstGeom>
          <a:ln w="158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0FA6159-BD8E-C53B-AAAD-D9EB4F5C3274}"/>
              </a:ext>
            </a:extLst>
          </p:cNvPr>
          <p:cNvSpPr txBox="1"/>
          <p:nvPr/>
        </p:nvSpPr>
        <p:spPr>
          <a:xfrm>
            <a:off x="1525309" y="1243928"/>
            <a:ext cx="418383" cy="400110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050" dirty="0">
                <a:solidFill>
                  <a:schemeClr val="tx2"/>
                </a:solidFill>
              </a:rPr>
              <a:t>Base</a:t>
            </a:r>
          </a:p>
          <a:p>
            <a:pPr algn="ctr">
              <a:spcAft>
                <a:spcPts val="600"/>
              </a:spcAft>
            </a:pPr>
            <a:r>
              <a:rPr lang="en-US" sz="1050" dirty="0">
                <a:solidFill>
                  <a:schemeClr val="tx2"/>
                </a:solidFill>
              </a:rPr>
              <a:t>Config</a:t>
            </a:r>
            <a:endParaRPr lang="en-CA" sz="1050" dirty="0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9EF551-16EB-F467-8E67-6BA273347B3E}"/>
              </a:ext>
            </a:extLst>
          </p:cNvPr>
          <p:cNvSpPr txBox="1"/>
          <p:nvPr/>
        </p:nvSpPr>
        <p:spPr>
          <a:xfrm>
            <a:off x="2559857" y="1243928"/>
            <a:ext cx="780663" cy="400110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050" dirty="0">
                <a:solidFill>
                  <a:schemeClr val="tx2"/>
                </a:solidFill>
              </a:rPr>
              <a:t>DC1 Domain</a:t>
            </a:r>
          </a:p>
          <a:p>
            <a:pPr algn="ctr">
              <a:spcAft>
                <a:spcPts val="600"/>
              </a:spcAft>
            </a:pPr>
            <a:r>
              <a:rPr lang="en-US" sz="1050" dirty="0">
                <a:solidFill>
                  <a:schemeClr val="tx2"/>
                </a:solidFill>
              </a:rPr>
              <a:t>Config</a:t>
            </a:r>
            <a:endParaRPr lang="en-CA" sz="1050" dirty="0">
              <a:solidFill>
                <a:schemeClr val="tx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4CD36-EC8D-D7B4-99D6-7EE4F522FA54}"/>
              </a:ext>
            </a:extLst>
          </p:cNvPr>
          <p:cNvSpPr/>
          <p:nvPr/>
        </p:nvSpPr>
        <p:spPr>
          <a:xfrm>
            <a:off x="2496619" y="1966605"/>
            <a:ext cx="423738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700" dirty="0">
                <a:solidFill>
                  <a:schemeClr val="bg1"/>
                </a:solidFill>
              </a:rPr>
              <a:t>MGMT</a:t>
            </a:r>
            <a:endParaRPr lang="en-CA" sz="700" b="1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918E10-68CE-F9DA-FAE6-CAD676F0F230}"/>
              </a:ext>
            </a:extLst>
          </p:cNvPr>
          <p:cNvSpPr/>
          <p:nvPr/>
        </p:nvSpPr>
        <p:spPr>
          <a:xfrm>
            <a:off x="3026609" y="1966605"/>
            <a:ext cx="365745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700" dirty="0">
                <a:solidFill>
                  <a:schemeClr val="bg1"/>
                </a:solidFill>
              </a:rPr>
              <a:t>WLD1</a:t>
            </a:r>
            <a:endParaRPr lang="en-CA" sz="700" b="1" dirty="0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C134AFB-75C5-6CE4-CD37-22196407186C}"/>
              </a:ext>
            </a:extLst>
          </p:cNvPr>
          <p:cNvSpPr/>
          <p:nvPr/>
        </p:nvSpPr>
        <p:spPr>
          <a:xfrm>
            <a:off x="1533987" y="1972386"/>
            <a:ext cx="456100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base</a:t>
            </a:r>
            <a:endParaRPr lang="en-CA" sz="800" b="1" dirty="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6EE24DC-BAF5-20E3-30F2-9361128F24D9}"/>
              </a:ext>
            </a:extLst>
          </p:cNvPr>
          <p:cNvSpPr txBox="1"/>
          <p:nvPr/>
        </p:nvSpPr>
        <p:spPr>
          <a:xfrm>
            <a:off x="4617085" y="2686523"/>
            <a:ext cx="2051844" cy="246221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chemeClr val="tx2"/>
                </a:solidFill>
              </a:rPr>
              <a:t>Coupling Framework</a:t>
            </a:r>
            <a:endParaRPr lang="en-CA" sz="1600" b="1" dirty="0">
              <a:solidFill>
                <a:schemeClr val="tx2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D761A30-19F9-DF9F-7318-B1D898D16A29}"/>
              </a:ext>
            </a:extLst>
          </p:cNvPr>
          <p:cNvSpPr/>
          <p:nvPr/>
        </p:nvSpPr>
        <p:spPr>
          <a:xfrm>
            <a:off x="10570112" y="4957599"/>
            <a:ext cx="711678" cy="28150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NSX-T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B80BE7F-A49B-C280-4BEF-7FC31C699556}"/>
              </a:ext>
            </a:extLst>
          </p:cNvPr>
          <p:cNvSpPr/>
          <p:nvPr/>
        </p:nvSpPr>
        <p:spPr>
          <a:xfrm>
            <a:off x="10570113" y="4314991"/>
            <a:ext cx="711678" cy="28150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vSphere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DD88B92-FD29-A5AE-E258-F6B845E9262D}"/>
              </a:ext>
            </a:extLst>
          </p:cNvPr>
          <p:cNvSpPr/>
          <p:nvPr/>
        </p:nvSpPr>
        <p:spPr>
          <a:xfrm>
            <a:off x="10570112" y="4643157"/>
            <a:ext cx="711678" cy="28150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vSAN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F2455C-077C-3B51-CDB9-80537B1EEAF7}"/>
              </a:ext>
            </a:extLst>
          </p:cNvPr>
          <p:cNvSpPr txBox="1"/>
          <p:nvPr/>
        </p:nvSpPr>
        <p:spPr>
          <a:xfrm>
            <a:off x="10074618" y="1092098"/>
            <a:ext cx="1720023" cy="246221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chemeClr val="tx2"/>
                </a:solidFill>
              </a:rPr>
              <a:t>Infra Components</a:t>
            </a:r>
            <a:endParaRPr lang="en-CA" sz="1600" b="1" dirty="0">
              <a:solidFill>
                <a:schemeClr val="tx2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98607D5-675A-F88B-EC70-7FA9E9CC977E}"/>
              </a:ext>
            </a:extLst>
          </p:cNvPr>
          <p:cNvCxnSpPr>
            <a:cxnSpLocks/>
            <a:endCxn id="4" idx="1"/>
          </p:cNvCxnSpPr>
          <p:nvPr/>
        </p:nvCxnSpPr>
        <p:spPr bwMode="gray">
          <a:xfrm>
            <a:off x="3571071" y="3744020"/>
            <a:ext cx="4102905" cy="414"/>
          </a:xfrm>
          <a:prstGeom prst="straightConnector1">
            <a:avLst/>
          </a:prstGeom>
          <a:ln w="254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onfig box">
            <a:extLst>
              <a:ext uri="{FF2B5EF4-FFF2-40B4-BE49-F238E27FC236}">
                <a16:creationId xmlns:a16="http://schemas.microsoft.com/office/drawing/2014/main" id="{A2E2C009-F9E5-167A-289A-7DAE9B21A2B6}"/>
              </a:ext>
            </a:extLst>
          </p:cNvPr>
          <p:cNvSpPr/>
          <p:nvPr/>
        </p:nvSpPr>
        <p:spPr>
          <a:xfrm>
            <a:off x="4840196" y="129530"/>
            <a:ext cx="4322161" cy="92280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600"/>
              </a:spcAft>
            </a:pPr>
            <a:r>
              <a:rPr lang="en-CA" sz="1400" b="1" dirty="0">
                <a:solidFill>
                  <a:schemeClr val="tx2"/>
                </a:solidFill>
              </a:rPr>
              <a:t>Inputs</a:t>
            </a:r>
          </a:p>
        </p:txBody>
      </p:sp>
      <p:sp>
        <p:nvSpPr>
          <p:cNvPr id="65" name="Config box">
            <a:extLst>
              <a:ext uri="{FF2B5EF4-FFF2-40B4-BE49-F238E27FC236}">
                <a16:creationId xmlns:a16="http://schemas.microsoft.com/office/drawing/2014/main" id="{329003D5-477A-7462-F0F0-BF772A20ABE6}"/>
              </a:ext>
            </a:extLst>
          </p:cNvPr>
          <p:cNvSpPr/>
          <p:nvPr/>
        </p:nvSpPr>
        <p:spPr>
          <a:xfrm>
            <a:off x="10249642" y="3885852"/>
            <a:ext cx="1324427" cy="1521290"/>
          </a:xfrm>
          <a:prstGeom prst="rect">
            <a:avLst/>
          </a:prstGeom>
          <a:solidFill>
            <a:srgbClr val="FFFFFF">
              <a:alpha val="70000"/>
            </a:srgb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CA" sz="1400" dirty="0">
              <a:solidFill>
                <a:schemeClr val="tx2"/>
              </a:solidFill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1786799-48E4-3DBD-6E93-0925B71FED2E}"/>
              </a:ext>
            </a:extLst>
          </p:cNvPr>
          <p:cNvCxnSpPr>
            <a:cxnSpLocks/>
            <a:stCxn id="64" idx="2"/>
            <a:endCxn id="16" idx="0"/>
          </p:cNvCxnSpPr>
          <p:nvPr/>
        </p:nvCxnSpPr>
        <p:spPr bwMode="gray">
          <a:xfrm flipH="1">
            <a:off x="7001276" y="1052339"/>
            <a:ext cx="1" cy="591699"/>
          </a:xfrm>
          <a:prstGeom prst="straightConnector1">
            <a:avLst/>
          </a:prstGeom>
          <a:ln w="254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Content Placeholder 3" descr="Gears with solid fill">
            <a:extLst>
              <a:ext uri="{FF2B5EF4-FFF2-40B4-BE49-F238E27FC236}">
                <a16:creationId xmlns:a16="http://schemas.microsoft.com/office/drawing/2014/main" id="{D85AF407-CF93-C388-E61B-C2EE14FC6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9085" y="2920512"/>
            <a:ext cx="1603348" cy="160334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91FF17-73B7-43D0-7F00-BD7152C6FE27}"/>
              </a:ext>
            </a:extLst>
          </p:cNvPr>
          <p:cNvSpPr/>
          <p:nvPr/>
        </p:nvSpPr>
        <p:spPr>
          <a:xfrm>
            <a:off x="8058379" y="474047"/>
            <a:ext cx="533409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cluster2</a:t>
            </a:r>
            <a:endParaRPr lang="en-CA" sz="800" b="1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AD24F7-FCCA-BF3D-B8C4-6DAB22944057}"/>
              </a:ext>
            </a:extLst>
          </p:cNvPr>
          <p:cNvCxnSpPr>
            <a:cxnSpLocks/>
          </p:cNvCxnSpPr>
          <p:nvPr/>
        </p:nvCxnSpPr>
        <p:spPr bwMode="gray">
          <a:xfrm>
            <a:off x="7411549" y="253287"/>
            <a:ext cx="0" cy="741045"/>
          </a:xfrm>
          <a:prstGeom prst="line">
            <a:avLst/>
          </a:prstGeom>
          <a:ln w="158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AFB88C0-1CD9-5A25-8A3D-77A259B6B718}"/>
              </a:ext>
            </a:extLst>
          </p:cNvPr>
          <p:cNvSpPr txBox="1"/>
          <p:nvPr/>
        </p:nvSpPr>
        <p:spPr>
          <a:xfrm>
            <a:off x="6351336" y="206662"/>
            <a:ext cx="235642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dirty="0" err="1">
                <a:solidFill>
                  <a:schemeClr val="tx2"/>
                </a:solidFill>
              </a:rPr>
              <a:t>IaC</a:t>
            </a:r>
            <a:endParaRPr lang="en-CA" sz="1200" dirty="0">
              <a:solidFill>
                <a:schemeClr val="tx2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5EF70F-5856-E627-BF72-5FE7619083ED}"/>
              </a:ext>
            </a:extLst>
          </p:cNvPr>
          <p:cNvSpPr txBox="1"/>
          <p:nvPr/>
        </p:nvSpPr>
        <p:spPr>
          <a:xfrm>
            <a:off x="7754758" y="228731"/>
            <a:ext cx="1064394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dirty="0">
                <a:solidFill>
                  <a:schemeClr val="tx2"/>
                </a:solidFill>
              </a:rPr>
              <a:t>Specific Inputs</a:t>
            </a:r>
            <a:endParaRPr lang="en-CA" sz="1200" dirty="0">
              <a:solidFill>
                <a:schemeClr val="tx2"/>
              </a:solidFill>
            </a:endParaRPr>
          </a:p>
        </p:txBody>
      </p:sp>
      <p:sp>
        <p:nvSpPr>
          <p:cNvPr id="67" name="!!DC1 box">
            <a:extLst>
              <a:ext uri="{FF2B5EF4-FFF2-40B4-BE49-F238E27FC236}">
                <a16:creationId xmlns:a16="http://schemas.microsoft.com/office/drawing/2014/main" id="{5DB701D7-A292-CC0D-7695-0F9FFD56EB00}"/>
              </a:ext>
            </a:extLst>
          </p:cNvPr>
          <p:cNvSpPr/>
          <p:nvPr/>
        </p:nvSpPr>
        <p:spPr>
          <a:xfrm>
            <a:off x="10273074" y="1582625"/>
            <a:ext cx="1273955" cy="204392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1000" b="1" dirty="0">
                <a:solidFill>
                  <a:schemeClr val="tx2"/>
                </a:solidFill>
              </a:rPr>
              <a:t>DC 1, MGMT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13F94F3D-4CE0-8AC0-D80D-F0761C3BCCC4}"/>
              </a:ext>
            </a:extLst>
          </p:cNvPr>
          <p:cNvSpPr/>
          <p:nvPr/>
        </p:nvSpPr>
        <p:spPr>
          <a:xfrm>
            <a:off x="10578791" y="2873549"/>
            <a:ext cx="711678" cy="28150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NSX-T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39A15A7D-6793-B7A4-89F8-D932A00C9DF3}"/>
              </a:ext>
            </a:extLst>
          </p:cNvPr>
          <p:cNvSpPr/>
          <p:nvPr/>
        </p:nvSpPr>
        <p:spPr>
          <a:xfrm>
            <a:off x="10578792" y="2203909"/>
            <a:ext cx="711678" cy="28150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vSphere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9FA9E82B-C8AE-BFDB-8664-EED3526904E4}"/>
              </a:ext>
            </a:extLst>
          </p:cNvPr>
          <p:cNvSpPr/>
          <p:nvPr/>
        </p:nvSpPr>
        <p:spPr>
          <a:xfrm>
            <a:off x="10578792" y="3208370"/>
            <a:ext cx="711678" cy="28150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SDDC Manager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AC2AC69D-15A8-B0E3-14E9-2DFDC1CA4388}"/>
              </a:ext>
            </a:extLst>
          </p:cNvPr>
          <p:cNvSpPr/>
          <p:nvPr/>
        </p:nvSpPr>
        <p:spPr>
          <a:xfrm>
            <a:off x="10578791" y="2538729"/>
            <a:ext cx="711678" cy="28150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vSAN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BA49FBE0-83E4-AA89-B0B7-8C3FD5ED35C8}"/>
              </a:ext>
            </a:extLst>
          </p:cNvPr>
          <p:cNvSpPr/>
          <p:nvPr/>
        </p:nvSpPr>
        <p:spPr>
          <a:xfrm>
            <a:off x="10578791" y="1869089"/>
            <a:ext cx="711678" cy="28150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Cloud Builder</a:t>
            </a:r>
          </a:p>
        </p:txBody>
      </p:sp>
      <p:sp>
        <p:nvSpPr>
          <p:cNvPr id="77" name="Config box">
            <a:extLst>
              <a:ext uri="{FF2B5EF4-FFF2-40B4-BE49-F238E27FC236}">
                <a16:creationId xmlns:a16="http://schemas.microsoft.com/office/drawing/2014/main" id="{C9E82EB2-E264-27D3-49B9-3EFB654E2367}"/>
              </a:ext>
            </a:extLst>
          </p:cNvPr>
          <p:cNvSpPr/>
          <p:nvPr/>
        </p:nvSpPr>
        <p:spPr>
          <a:xfrm>
            <a:off x="10487164" y="2820231"/>
            <a:ext cx="875463" cy="353530"/>
          </a:xfrm>
          <a:prstGeom prst="rect">
            <a:avLst/>
          </a:prstGeom>
          <a:solidFill>
            <a:srgbClr val="FFFFFF">
              <a:alpha val="70000"/>
            </a:srgb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CA" sz="1400" dirty="0">
              <a:solidFill>
                <a:schemeClr val="tx2"/>
              </a:solidFill>
            </a:endParaRPr>
          </a:p>
        </p:txBody>
      </p:sp>
      <p:sp>
        <p:nvSpPr>
          <p:cNvPr id="78" name="Config box">
            <a:extLst>
              <a:ext uri="{FF2B5EF4-FFF2-40B4-BE49-F238E27FC236}">
                <a16:creationId xmlns:a16="http://schemas.microsoft.com/office/drawing/2014/main" id="{F8987EC5-23DE-C9A5-83CC-F9E47C5FB534}"/>
              </a:ext>
            </a:extLst>
          </p:cNvPr>
          <p:cNvSpPr/>
          <p:nvPr/>
        </p:nvSpPr>
        <p:spPr>
          <a:xfrm>
            <a:off x="10498974" y="1830992"/>
            <a:ext cx="875463" cy="353530"/>
          </a:xfrm>
          <a:prstGeom prst="rect">
            <a:avLst/>
          </a:prstGeom>
          <a:solidFill>
            <a:srgbClr val="FFFFFF">
              <a:alpha val="70000"/>
            </a:srgb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CA" sz="1400" dirty="0">
              <a:solidFill>
                <a:schemeClr val="tx2"/>
              </a:solidFill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CDB8A07-16AE-2B16-4120-EFE46CE287FF}"/>
              </a:ext>
            </a:extLst>
          </p:cNvPr>
          <p:cNvGrpSpPr/>
          <p:nvPr/>
        </p:nvGrpSpPr>
        <p:grpSpPr>
          <a:xfrm>
            <a:off x="5119700" y="3473952"/>
            <a:ext cx="931541" cy="540135"/>
            <a:chOff x="4414838" y="3750878"/>
            <a:chExt cx="766761" cy="540135"/>
          </a:xfrm>
        </p:grpSpPr>
        <p:sp>
          <p:nvSpPr>
            <p:cNvPr id="82" name="vROps small">
              <a:extLst>
                <a:ext uri="{FF2B5EF4-FFF2-40B4-BE49-F238E27FC236}">
                  <a16:creationId xmlns:a16="http://schemas.microsoft.com/office/drawing/2014/main" id="{999215B8-B5F3-AD92-CBFA-8E69DD1C1E94}"/>
                </a:ext>
              </a:extLst>
            </p:cNvPr>
            <p:cNvSpPr/>
            <p:nvPr/>
          </p:nvSpPr>
          <p:spPr>
            <a:xfrm>
              <a:off x="4414838" y="3750878"/>
              <a:ext cx="766761" cy="5401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CA" sz="700" b="1" dirty="0">
                  <a:solidFill>
                    <a:schemeClr val="tx2"/>
                  </a:solidFill>
                </a:rPr>
                <a:t>Combined Config</a:t>
              </a:r>
            </a:p>
          </p:txBody>
        </p:sp>
        <p:sp>
          <p:nvSpPr>
            <p:cNvPr id="83" name="base small">
              <a:extLst>
                <a:ext uri="{FF2B5EF4-FFF2-40B4-BE49-F238E27FC236}">
                  <a16:creationId xmlns:a16="http://schemas.microsoft.com/office/drawing/2014/main" id="{024555BB-E1EB-A7A1-EF01-47AE09236990}"/>
                </a:ext>
              </a:extLst>
            </p:cNvPr>
            <p:cNvSpPr/>
            <p:nvPr/>
          </p:nvSpPr>
          <p:spPr>
            <a:xfrm>
              <a:off x="4540476" y="3926571"/>
              <a:ext cx="330319" cy="2763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2700">
              <a:solidFill>
                <a:schemeClr val="bg2">
                  <a:lumMod val="1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CA" sz="600" dirty="0">
                  <a:solidFill>
                    <a:schemeClr val="bg1"/>
                  </a:solidFill>
                </a:rPr>
                <a:t>base</a:t>
              </a:r>
              <a:endParaRPr lang="en-CA" sz="600" b="1" dirty="0">
                <a:solidFill>
                  <a:schemeClr val="bg1"/>
                </a:solidFill>
              </a:endParaRPr>
            </a:p>
          </p:txBody>
        </p:sp>
        <p:sp>
          <p:nvSpPr>
            <p:cNvPr id="84" name="az1 small">
              <a:extLst>
                <a:ext uri="{FF2B5EF4-FFF2-40B4-BE49-F238E27FC236}">
                  <a16:creationId xmlns:a16="http://schemas.microsoft.com/office/drawing/2014/main" id="{F695648A-6B1D-3AAC-CD23-7C7AA985C762}"/>
                </a:ext>
              </a:extLst>
            </p:cNvPr>
            <p:cNvSpPr/>
            <p:nvPr/>
          </p:nvSpPr>
          <p:spPr>
            <a:xfrm>
              <a:off x="4800324" y="3926571"/>
              <a:ext cx="308416" cy="2763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2700">
              <a:solidFill>
                <a:schemeClr val="bg2">
                  <a:lumMod val="1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CA" sz="600" dirty="0">
                  <a:solidFill>
                    <a:schemeClr val="bg1"/>
                  </a:solidFill>
                </a:rPr>
                <a:t>MGMT</a:t>
              </a:r>
              <a:endParaRPr lang="en-CA" sz="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D7A33523-CB92-76FD-500E-A2855D653A81}"/>
              </a:ext>
            </a:extLst>
          </p:cNvPr>
          <p:cNvSpPr/>
          <p:nvPr/>
        </p:nvSpPr>
        <p:spPr>
          <a:xfrm>
            <a:off x="6910414" y="476370"/>
            <a:ext cx="423738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MGMT</a:t>
            </a:r>
            <a:endParaRPr lang="en-CA" sz="800" b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C0A376-8288-B15E-1BBD-5F94F854B29E}"/>
              </a:ext>
            </a:extLst>
          </p:cNvPr>
          <p:cNvSpPr/>
          <p:nvPr/>
        </p:nvSpPr>
        <p:spPr>
          <a:xfrm>
            <a:off x="6419007" y="476370"/>
            <a:ext cx="423738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DC1</a:t>
            </a:r>
            <a:endParaRPr lang="en-CA" sz="800" b="1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6D7AF3-5259-2098-53AF-76ACD1386446}"/>
              </a:ext>
            </a:extLst>
          </p:cNvPr>
          <p:cNvSpPr/>
          <p:nvPr/>
        </p:nvSpPr>
        <p:spPr>
          <a:xfrm>
            <a:off x="5927598" y="476370"/>
            <a:ext cx="423738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AMER</a:t>
            </a:r>
            <a:endParaRPr lang="en-CA" sz="800" b="1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841D16-3F69-3B1B-03F8-EF2C4D4F673F}"/>
              </a:ext>
            </a:extLst>
          </p:cNvPr>
          <p:cNvSpPr/>
          <p:nvPr/>
        </p:nvSpPr>
        <p:spPr>
          <a:xfrm>
            <a:off x="4944780" y="476370"/>
            <a:ext cx="423738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Git Repo</a:t>
            </a:r>
            <a:endParaRPr lang="en-CA" sz="800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10C59D-4760-920B-0E3D-CD1BF2ABEC02}"/>
              </a:ext>
            </a:extLst>
          </p:cNvPr>
          <p:cNvSpPr/>
          <p:nvPr/>
        </p:nvSpPr>
        <p:spPr>
          <a:xfrm>
            <a:off x="5436189" y="476370"/>
            <a:ext cx="423738" cy="32059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2">
                <a:lumMod val="1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CA" sz="800" dirty="0">
                <a:solidFill>
                  <a:schemeClr val="bg1"/>
                </a:solidFill>
              </a:rPr>
              <a:t>Git Branch</a:t>
            </a:r>
            <a:endParaRPr lang="en-CA" sz="800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5C27C0-0B8F-8E1D-7829-BA34CC06BA7B}"/>
              </a:ext>
            </a:extLst>
          </p:cNvPr>
          <p:cNvSpPr txBox="1"/>
          <p:nvPr/>
        </p:nvSpPr>
        <p:spPr>
          <a:xfrm>
            <a:off x="924234" y="569947"/>
            <a:ext cx="2316340" cy="492443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Configuration Data</a:t>
            </a:r>
          </a:p>
          <a:p>
            <a:pPr algn="ctr"/>
            <a:r>
              <a:rPr lang="en-US" sz="1600" i="1" dirty="0" err="1">
                <a:solidFill>
                  <a:schemeClr val="tx2"/>
                </a:solidFill>
              </a:rPr>
              <a:t>IaC</a:t>
            </a:r>
            <a:r>
              <a:rPr lang="en-US" sz="1600" i="1" dirty="0">
                <a:solidFill>
                  <a:schemeClr val="tx2"/>
                </a:solidFill>
              </a:rPr>
              <a:t> - Git Repo &amp; Branch</a:t>
            </a:r>
            <a:endParaRPr lang="en-CA" sz="16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340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VMware_white_16x9">
  <a:themeElements>
    <a:clrScheme name="VMware 2019">
      <a:dk1>
        <a:srgbClr val="717074"/>
      </a:dk1>
      <a:lt1>
        <a:sysClr val="window" lastClr="FFFFFF"/>
      </a:lt1>
      <a:dk2>
        <a:srgbClr val="3F3F3F"/>
      </a:dk2>
      <a:lt2>
        <a:srgbClr val="F2F2F2"/>
      </a:lt2>
      <a:accent1>
        <a:srgbClr val="0091DA"/>
      </a:accent1>
      <a:accent2>
        <a:srgbClr val="1A428A"/>
      </a:accent2>
      <a:accent3>
        <a:srgbClr val="00C1D5"/>
      </a:accent3>
      <a:accent4>
        <a:srgbClr val="78BE20"/>
      </a:accent4>
      <a:accent5>
        <a:srgbClr val="7F35B2"/>
      </a:accent5>
      <a:accent6>
        <a:srgbClr val="387C2C"/>
      </a:accent6>
      <a:hlink>
        <a:srgbClr val="006990"/>
      </a:hlink>
      <a:folHlink>
        <a:srgbClr val="006990"/>
      </a:folHlink>
    </a:clrScheme>
    <a:fontScheme name="Custom 19">
      <a:majorFont>
        <a:latin typeface="Metropolis Light"/>
        <a:ea typeface=""/>
        <a:cs typeface=""/>
      </a:majorFont>
      <a:minorFont>
        <a:latin typeface="Metropol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Aft>
            <a:spcPts val="600"/>
          </a:spcAft>
          <a:defRPr sz="1200" smtClean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gray">
        <a:ln w="25400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 algn="l">
          <a:spcAft>
            <a:spcPts val="600"/>
          </a:spcAft>
          <a:defRPr sz="1200" smtClean="0"/>
        </a:defPPr>
      </a:lstStyle>
    </a:txDef>
  </a:objectDefaults>
  <a:extraClrSchemeLst/>
  <a:custClrLst>
    <a:custClr name="Orange">
      <a:srgbClr val="F8981D"/>
    </a:custClr>
    <a:custClr name="Red">
      <a:srgbClr val="820024"/>
    </a:custClr>
  </a:custClrLst>
  <a:extLst>
    <a:ext uri="{05A4C25C-085E-4340-85A3-A5531E510DB2}">
      <thm15:themeFamily xmlns:thm15="http://schemas.microsoft.com/office/thememl/2012/main" name="VMWR_CorpTempRefresh_Light_07_21_hr.potx" id="{05DAF37D-AD21-46CA-8327-AA29D585B2C3}" vid="{AA349161-A6C3-488A-A8B7-7A2D5F49158C}"/>
    </a:ext>
  </a:extLst>
</a:theme>
</file>

<file path=ppt/theme/theme2.xml><?xml version="1.0" encoding="utf-8"?>
<a:theme xmlns:a="http://schemas.openxmlformats.org/drawingml/2006/main" name="Office Theme">
  <a:themeElements>
    <a:clrScheme name="VMware">
      <a:dk1>
        <a:srgbClr val="717074"/>
      </a:dk1>
      <a:lt1>
        <a:sysClr val="window" lastClr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Mware">
      <a:dk1>
        <a:srgbClr val="717074"/>
      </a:dk1>
      <a:lt1>
        <a:sysClr val="window" lastClr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F572285869EC44B9EB49841610F37E" ma:contentTypeVersion="13" ma:contentTypeDescription="Create a new document." ma:contentTypeScope="" ma:versionID="e94564be778f0cf683c3ebce1ba403fc">
  <xsd:schema xmlns:xsd="http://www.w3.org/2001/XMLSchema" xmlns:xs="http://www.w3.org/2001/XMLSchema" xmlns:p="http://schemas.microsoft.com/office/2006/metadata/properties" xmlns:ns3="4797ee92-6871-4998-9589-0be038166086" xmlns:ns4="b2add69b-1676-4fd2-ad0d-08c705771f63" targetNamespace="http://schemas.microsoft.com/office/2006/metadata/properties" ma:root="true" ma:fieldsID="b99de443499b23420c2c284bf73d049d" ns3:_="" ns4:_="">
    <xsd:import namespace="4797ee92-6871-4998-9589-0be038166086"/>
    <xsd:import namespace="b2add69b-1676-4fd2-ad0d-08c705771f6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97ee92-6871-4998-9589-0be0381660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add69b-1676-4fd2-ad0d-08c705771f6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DC72A1C-9369-411D-8C86-DE1BDE8ED0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7780DF-1096-409A-9DD0-F3FCBDB1D2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97ee92-6871-4998-9589-0be038166086"/>
    <ds:schemaRef ds:uri="b2add69b-1676-4fd2-ad0d-08c705771f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968E41C-C4C5-4A85-8D03-9D99C9766C1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5922</TotalTime>
  <Words>136</Words>
  <Application>Microsoft Office PowerPoint</Application>
  <PresentationFormat>Custom</PresentationFormat>
  <Paragraphs>89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Camphor Std</vt:lpstr>
      <vt:lpstr>Metropolis</vt:lpstr>
      <vt:lpstr>Metropolis Light</vt:lpstr>
      <vt:lpstr>VMware_white_16x9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Comcast – Datacenter Layout</dc:title>
  <dc:creator>ik017054</dc:creator>
  <cp:lastModifiedBy>Ivan Krolo</cp:lastModifiedBy>
  <cp:revision>7</cp:revision>
  <dcterms:created xsi:type="dcterms:W3CDTF">2020-08-25T00:10:16Z</dcterms:created>
  <dcterms:modified xsi:type="dcterms:W3CDTF">2024-10-17T02:03:27Z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0x0101006FF572285869EC44B9EB49841610F37E</vt:lpwstr>
  </property>
</Properties>
</file>